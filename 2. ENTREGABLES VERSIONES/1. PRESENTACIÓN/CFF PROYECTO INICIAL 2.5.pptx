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Work Sans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gpK7vy6NRuGqXwGrwjgHPkQ15v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WorkSans-boldItalic.fntdata"/><Relationship Id="rId16" Type="http://schemas.openxmlformats.org/officeDocument/2006/relationships/font" Target="fonts/Work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871296" y="1077075"/>
            <a:ext cx="764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Work Sans"/>
              <a:buNone/>
            </a:pPr>
            <a:r>
              <a:rPr b="1" i="0" lang="es-ES" sz="54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RESTAURANTE</a:t>
            </a:r>
            <a:endParaRPr b="1" i="0" sz="40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871298" y="1919600"/>
            <a:ext cx="8479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54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CORRALEJO FAST FOOD</a:t>
            </a:r>
            <a:endParaRPr b="1" i="0" sz="5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871307" y="3116414"/>
            <a:ext cx="3977783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Integrantes grupo 3: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s-ES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Diego Rincón Reyes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s-ES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Julián Delgado López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s-ES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Alberto Camargo Morales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s-ES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Mateo Chaves Mejía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1" i="0" lang="es-ES" sz="2000" u="none" cap="none" strike="noStrike">
                <a:solidFill>
                  <a:schemeClr val="dk1"/>
                </a:solidFill>
                <a:latin typeface="Work Sans"/>
                <a:ea typeface="Work Sans"/>
                <a:cs typeface="Work Sans"/>
                <a:sym typeface="Work Sans"/>
              </a:rPr>
              <a:t>Sebastián Amaya Manrique </a:t>
            </a:r>
            <a:endParaRPr/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64245" y="4544291"/>
            <a:ext cx="1456447" cy="1456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/>
        </p:nvSpPr>
        <p:spPr>
          <a:xfrm>
            <a:off x="664128" y="981414"/>
            <a:ext cx="1086374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Font typeface="Work Sans"/>
              <a:buNone/>
            </a:pPr>
            <a:r>
              <a:rPr b="1" i="0" lang="es-ES" sz="4800" u="none" cap="none" strike="noStrike">
                <a:solidFill>
                  <a:schemeClr val="accent6"/>
                </a:solidFill>
                <a:latin typeface="Work Sans"/>
                <a:ea typeface="Work Sans"/>
                <a:cs typeface="Work Sans"/>
                <a:sym typeface="Work Sans"/>
              </a:rPr>
              <a:t>Planteamiento del Problema</a:t>
            </a:r>
            <a:endParaRPr/>
          </a:p>
        </p:txBody>
      </p:sp>
      <p:cxnSp>
        <p:nvCxnSpPr>
          <p:cNvPr id="102" name="Google Shape;102;p2"/>
          <p:cNvCxnSpPr/>
          <p:nvPr/>
        </p:nvCxnSpPr>
        <p:spPr>
          <a:xfrm>
            <a:off x="4972228" y="1812411"/>
            <a:ext cx="2247544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" name="Google Shape;103;p2"/>
          <p:cNvSpPr txBox="1"/>
          <p:nvPr/>
        </p:nvSpPr>
        <p:spPr>
          <a:xfrm>
            <a:off x="1044616" y="2551837"/>
            <a:ext cx="4754300" cy="4124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2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Qué</a:t>
            </a:r>
            <a:br>
              <a:rPr b="0" i="0" lang="es-E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restaurante </a:t>
            </a:r>
            <a:r>
              <a:rPr b="1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Corralejo Fast Food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presenta dificultades en la organización de los pedidos, el manejo de la información de los platos del menú y el control de los domicilios, los cuales solo se realizan cuando el cliente se encuentra cerca del restaurante, lo que puede generar desorden en los registros y demoras en la atención.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6773571" y="2551837"/>
            <a:ext cx="4754300" cy="3754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200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Para qué</a:t>
            </a:r>
            <a:br>
              <a:rPr lang="es-E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esta razón, se propone desarrollar un </a:t>
            </a:r>
            <a:r>
              <a:rPr b="1"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información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permita organizar el inventario de pedidos, la información de los platos y la gestión de domicilios cercanos, con el fin de mejorar la atención al cliente y optimizar los procesos del restaurante.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293246" y="1856809"/>
            <a:ext cx="7154725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r>
              <a:rPr b="1" lang="es-ES" sz="44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/>
          </a:p>
        </p:txBody>
      </p:sp>
      <p:cxnSp>
        <p:nvCxnSpPr>
          <p:cNvPr id="110" name="Google Shape;110;p3"/>
          <p:cNvCxnSpPr/>
          <p:nvPr/>
        </p:nvCxnSpPr>
        <p:spPr>
          <a:xfrm>
            <a:off x="2557278" y="2533407"/>
            <a:ext cx="1425934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1" name="Google Shape;111;p3"/>
          <p:cNvSpPr txBox="1"/>
          <p:nvPr/>
        </p:nvSpPr>
        <p:spPr>
          <a:xfrm>
            <a:off x="1074875" y="3036612"/>
            <a:ext cx="6120252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 sistema de información que permita la gestión de los platos del menú del restaurante Corralejo Fast Food y, simultáneamente, implementar un módulo de ventas en línea dirigido a los clientes, con el fin de organizar la información, registrar pedidos y generar tickets de manera eficiente, mejorando así la atención al cliente y la operatividad del negocio.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Vectores de Objetivo general png - Descarga vectores gratis de gran calidad  de Freepik | Freepik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00816" y="1648691"/>
            <a:ext cx="3874655" cy="3874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" name="Google Shape;117;p4"/>
          <p:cNvCxnSpPr/>
          <p:nvPr/>
        </p:nvCxnSpPr>
        <p:spPr>
          <a:xfrm>
            <a:off x="3346486" y="1228433"/>
            <a:ext cx="1425934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18" name="Google Shape;11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9066" y="615821"/>
            <a:ext cx="7865400" cy="614614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 txBox="1"/>
          <p:nvPr/>
        </p:nvSpPr>
        <p:spPr>
          <a:xfrm>
            <a:off x="3368225" y="440616"/>
            <a:ext cx="6235552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r>
              <a:rPr b="1" lang="es-ES" sz="44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/>
        </p:nvSpPr>
        <p:spPr>
          <a:xfrm>
            <a:off x="3341086" y="665145"/>
            <a:ext cx="550984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Font typeface="Work Sans"/>
              <a:buNone/>
            </a:pPr>
            <a:r>
              <a:rPr b="1" lang="es-ES" sz="4800" u="none" cap="none" strike="noStrike">
                <a:solidFill>
                  <a:schemeClr val="accent6"/>
                </a:solidFill>
                <a:latin typeface="Work Sans"/>
                <a:ea typeface="Work Sans"/>
                <a:cs typeface="Work Sans"/>
                <a:sym typeface="Work Sans"/>
              </a:rPr>
              <a:t>Módulos del Sistema</a:t>
            </a:r>
            <a:endParaRPr/>
          </a:p>
        </p:txBody>
      </p:sp>
      <p:cxnSp>
        <p:nvCxnSpPr>
          <p:cNvPr id="125" name="Google Shape;125;p5"/>
          <p:cNvCxnSpPr/>
          <p:nvPr/>
        </p:nvCxnSpPr>
        <p:spPr>
          <a:xfrm>
            <a:off x="4972228" y="1485507"/>
            <a:ext cx="2247544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" name="Google Shape;126;p5"/>
          <p:cNvSpPr txBox="1"/>
          <p:nvPr/>
        </p:nvSpPr>
        <p:spPr>
          <a:xfrm>
            <a:off x="713509" y="1578152"/>
            <a:ext cx="10764981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Pedidos: 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registrar, organizar y hacer seguimiento a los pedidos realizados por los clientes en el restaurante o a domicilio</a:t>
            </a:r>
            <a:b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Administración de Platos del Menú: 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registrar, editar y eliminar los platos disponibles en el restaurante, incluyendo su descripción, precio e imagen</a:t>
            </a:r>
            <a:b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Generación de comprobante de pedido: 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generar un ticket o comprobante con la información del pedido realizado por el cliente</a:t>
            </a:r>
            <a:b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Reportes: 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consultar información relacionada con los pedidos registrados y los platos más solicitados</a:t>
            </a:r>
            <a:b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Usuarios y Roles: 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administrar el acceso al sistema según el rol de cada empleado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Ventas Online / Pedidos a través de la Web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Permite a los clientes visualizar el menú digital, seleccionar platos, armar su pedido, ingresar datos de entrega (dirección, teléfono), elegir método de pago y realizar el seguimiento del estado del pedido en tiempo real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/>
        </p:nvSpPr>
        <p:spPr>
          <a:xfrm>
            <a:off x="4845152" y="142633"/>
            <a:ext cx="250171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Work Sans"/>
              <a:buNone/>
            </a:pPr>
            <a:r>
              <a:rPr b="1" lang="es-ES" sz="48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Mockups</a:t>
            </a:r>
            <a:endParaRPr/>
          </a:p>
        </p:txBody>
      </p:sp>
      <p:pic>
        <p:nvPicPr>
          <p:cNvPr id="132" name="Google Shape;13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050" y="1371601"/>
            <a:ext cx="5852537" cy="3836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6545" y="1364940"/>
            <a:ext cx="5852537" cy="385054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 txBox="1"/>
          <p:nvPr/>
        </p:nvSpPr>
        <p:spPr>
          <a:xfrm>
            <a:off x="2752277" y="5486399"/>
            <a:ext cx="6408614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5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Línk</a:t>
            </a:r>
            <a:r>
              <a:rPr b="1" lang="es-ES" sz="25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: https://balsamiq.cloud/sxhyf3y/poun6ab</a:t>
            </a:r>
            <a:endParaRPr b="1" sz="25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/>
        </p:nvSpPr>
        <p:spPr>
          <a:xfrm>
            <a:off x="3414836" y="-166879"/>
            <a:ext cx="510107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</a:pPr>
            <a:r>
              <a:rPr b="1" lang="es-ES" sz="7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Casos de uso</a:t>
            </a:r>
            <a:endParaRPr b="1" sz="7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40" name="Google Shape;14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76532" y="830850"/>
            <a:ext cx="6566864" cy="5915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/>
        </p:nvSpPr>
        <p:spPr>
          <a:xfrm>
            <a:off x="1696438" y="103706"/>
            <a:ext cx="879914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</a:pPr>
            <a:r>
              <a:rPr b="1" lang="es-ES" sz="7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Caso de uso extendido</a:t>
            </a:r>
            <a:endParaRPr/>
          </a:p>
        </p:txBody>
      </p:sp>
      <p:pic>
        <p:nvPicPr>
          <p:cNvPr id="146" name="Google Shape;14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0101" y="1304034"/>
            <a:ext cx="3998333" cy="5218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6398" y="1304034"/>
            <a:ext cx="3746767" cy="5218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/>
        </p:nvSpPr>
        <p:spPr>
          <a:xfrm>
            <a:off x="2336873" y="-26928"/>
            <a:ext cx="751827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</a:pPr>
            <a:r>
              <a:rPr b="1" lang="es-ES" sz="7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Repositorio GitHub</a:t>
            </a:r>
            <a:endParaRPr/>
          </a:p>
        </p:txBody>
      </p:sp>
      <p:pic>
        <p:nvPicPr>
          <p:cNvPr id="153" name="Google Shape;15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3063" y="953549"/>
            <a:ext cx="7518277" cy="5782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