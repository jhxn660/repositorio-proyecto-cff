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6858000" cx="12192000"/>
  <p:notesSz cx="6858000" cy="9144000"/>
  <p:embeddedFontLst>
    <p:embeddedFont>
      <p:font typeface="Work Sans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595">
          <p15:clr>
            <a:srgbClr val="A4A3A4"/>
          </p15:clr>
        </p15:guide>
        <p15:guide id="2" pos="3840">
          <p15:clr>
            <a:srgbClr val="A4A3A4"/>
          </p15:clr>
        </p15:guide>
        <p15:guide id="3" orient="horz" pos="187">
          <p15:clr>
            <a:srgbClr val="A4A3A4"/>
          </p15:clr>
        </p15:guide>
      </p15:sldGuideLst>
    </p:ext>
    <p:ext uri="GoogleSlidesCustomDataVersion2">
      <go:slidesCustomData xmlns:go="http://customooxmlschemas.google.com/" r:id="rId29" roundtripDataSignature="AMtx7mi4azaWSH917MrZRq5f//5IZz8Jv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595" orient="horz"/>
        <p:guide pos="3840"/>
        <p:guide pos="187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WorkSans-bold.fntdata"/><Relationship Id="rId25" Type="http://schemas.openxmlformats.org/officeDocument/2006/relationships/font" Target="fonts/WorkSans-regular.fntdata"/><Relationship Id="rId28" Type="http://schemas.openxmlformats.org/officeDocument/2006/relationships/font" Target="fonts/WorkSans-boldItalic.fntdata"/><Relationship Id="rId27" Type="http://schemas.openxmlformats.org/officeDocument/2006/relationships/font" Target="fonts/WorkSans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E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1" name="Google Shape;91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9" name="Google Shape;9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7" name="Google Shape;10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5" name="Google Shape;11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2" name="Google Shape;12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0" name="Google Shape;13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8" name="Google Shape;13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5" name="Google Shape;14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2" name="Google Shape;15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9" name="Google Shape;15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7" name="Google Shape;167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3" name="Google Shape;173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1" name="Google Shape;181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0" name="Google Shape;190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7" name="Google Shape;197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5" name="Google Shape;205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0" name="Google Shape;220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0" name="Google Shape;230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4" name="Google Shape;244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2" name="Google Shape;22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2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2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2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2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8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8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9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9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0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1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1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eño personalizado">
  <p:cSld name="Diseño personalizado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png"/><Relationship Id="rId4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Relationship Id="rId4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Relationship Id="rId4" Type="http://schemas.openxmlformats.org/officeDocument/2006/relationships/image" Target="../media/image1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6.jpg"/><Relationship Id="rId4" Type="http://schemas.openxmlformats.org/officeDocument/2006/relationships/image" Target="../media/image18.png"/><Relationship Id="rId5" Type="http://schemas.openxmlformats.org/officeDocument/2006/relationships/image" Target="../media/image1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"/>
          <p:cNvSpPr txBox="1"/>
          <p:nvPr/>
        </p:nvSpPr>
        <p:spPr>
          <a:xfrm>
            <a:off x="871300" y="1077075"/>
            <a:ext cx="91263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Work Sans"/>
              <a:buNone/>
            </a:pPr>
            <a:r>
              <a:rPr b="1" i="0" lang="es-ES" sz="5400" u="none" cap="none" strike="noStrik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RESTAURANTE</a:t>
            </a:r>
            <a:endParaRPr b="1" i="0" sz="4000" u="none" cap="none" strike="noStrike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871300" y="1919600"/>
            <a:ext cx="99837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es-ES" sz="5400" u="none" cap="none" strike="noStrik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CORRALEJO FAST FOOD</a:t>
            </a:r>
            <a:endParaRPr b="1" i="0" sz="5400" u="none" cap="none" strike="noStrike">
              <a:solidFill>
                <a:srgbClr val="3F3F3F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871300" y="2966150"/>
            <a:ext cx="6083100" cy="22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-ES" sz="2000" u="none" cap="none" strike="noStrik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Integrantes grupo 3: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b="1" i="0" lang="es-ES" sz="2000" u="none" cap="none" strike="noStrik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Diego Rincón Reyes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b="1" i="0" lang="es-ES" sz="2000" u="none" cap="none" strike="noStrik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Julián Delgado López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b="1" i="0" lang="es-ES" sz="2000" u="none" cap="none" strike="noStrik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Alberto Camargo Morales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b="1" i="0" lang="es-ES" sz="2000" u="none" cap="none" strike="noStrik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Mateo Chaves Mejía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b="1" i="0" lang="es-ES" sz="2000" u="none" cap="none" strike="noStrik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Sebastián Amaya Manrique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6" name="Google Shape;96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864245" y="4544291"/>
            <a:ext cx="1456447" cy="14564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"/>
          <p:cNvSpPr txBox="1"/>
          <p:nvPr/>
        </p:nvSpPr>
        <p:spPr>
          <a:xfrm>
            <a:off x="2977841" y="822163"/>
            <a:ext cx="6236324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Work Sans"/>
              <a:buNone/>
            </a:pPr>
            <a:r>
              <a:rPr b="1" i="0" lang="es-ES" sz="60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LISTA DE CHEQUEO</a:t>
            </a:r>
            <a:endParaRPr b="1" i="0" sz="7200" u="none" cap="none" strike="noStrik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cxnSp>
        <p:nvCxnSpPr>
          <p:cNvPr id="102" name="Google Shape;102;p2"/>
          <p:cNvCxnSpPr/>
          <p:nvPr/>
        </p:nvCxnSpPr>
        <p:spPr>
          <a:xfrm>
            <a:off x="5013630" y="1753361"/>
            <a:ext cx="2247544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3" name="Google Shape;103;p2"/>
          <p:cNvSpPr txBox="1"/>
          <p:nvPr/>
        </p:nvSpPr>
        <p:spPr>
          <a:xfrm>
            <a:off x="645049" y="2161315"/>
            <a:ext cx="10984706" cy="40626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oto Sans Symbols"/>
              <a:buChar char="⮚"/>
            </a:pPr>
            <a:r>
              <a:rPr b="0" i="0" lang="es-ES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Nombre del proyecto</a:t>
            </a:r>
            <a:br>
              <a:rPr b="0" i="0" lang="es-ES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2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oto Sans Symbols"/>
              <a:buChar char="⮚"/>
            </a:pPr>
            <a:r>
              <a:rPr b="0" i="0" lang="es-ES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Planteamiento problema</a:t>
            </a:r>
            <a:br>
              <a:rPr b="0" i="0" lang="es-ES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s-ES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oto Sans Symbols"/>
              <a:buChar char="⮚"/>
            </a:pPr>
            <a:r>
              <a:rPr b="0" i="0" lang="es-ES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Justificación </a:t>
            </a:r>
            <a:br>
              <a:rPr b="0" i="0" lang="es-ES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2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oto Sans Symbols"/>
              <a:buChar char="⮚"/>
            </a:pPr>
            <a:r>
              <a:rPr b="0" i="0" lang="es-ES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Pregunta del proyecto</a:t>
            </a:r>
            <a:br>
              <a:rPr b="0" i="0" lang="es-ES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2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oto Sans Symbols"/>
              <a:buChar char="⮚"/>
            </a:pPr>
            <a:r>
              <a:rPr b="0" i="0" lang="es-ES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Objetivo general </a:t>
            </a:r>
            <a:br>
              <a:rPr b="0" i="0" lang="es-ES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2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oto Sans Symbols"/>
              <a:buChar char="⮚"/>
            </a:pPr>
            <a:r>
              <a:rPr b="0" i="0" lang="es-ES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Objetivos específicos </a:t>
            </a:r>
            <a:br>
              <a:rPr b="0" i="0" lang="es-ES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2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oto Sans Symbols"/>
              <a:buChar char="⮚"/>
            </a:pPr>
            <a:r>
              <a:rPr b="0" i="0" lang="es-ES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Delimitaciones</a:t>
            </a:r>
            <a:endParaRPr b="0" i="0" sz="2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4" name="Google Shape;104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6200" y="2362200"/>
            <a:ext cx="4495800" cy="449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"/>
          <p:cNvSpPr txBox="1"/>
          <p:nvPr/>
        </p:nvSpPr>
        <p:spPr>
          <a:xfrm>
            <a:off x="664128" y="981414"/>
            <a:ext cx="10863743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Font typeface="Work Sans"/>
              <a:buNone/>
            </a:pPr>
            <a:r>
              <a:rPr b="1" i="0" lang="es-ES" sz="4800" u="none" cap="none" strike="noStrike">
                <a:solidFill>
                  <a:schemeClr val="accent6"/>
                </a:solidFill>
                <a:latin typeface="Work Sans"/>
                <a:ea typeface="Work Sans"/>
                <a:cs typeface="Work Sans"/>
                <a:sym typeface="Work Sans"/>
              </a:rPr>
              <a:t>Planteamiento del Problema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0" name="Google Shape;110;p3"/>
          <p:cNvCxnSpPr/>
          <p:nvPr/>
        </p:nvCxnSpPr>
        <p:spPr>
          <a:xfrm>
            <a:off x="4972228" y="1812411"/>
            <a:ext cx="2247544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1" name="Google Shape;111;p3"/>
          <p:cNvSpPr txBox="1"/>
          <p:nvPr/>
        </p:nvSpPr>
        <p:spPr>
          <a:xfrm>
            <a:off x="1044616" y="2551837"/>
            <a:ext cx="4754300" cy="41242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s-ES" sz="2200" u="none" cap="none" strike="noStrike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rPr>
              <a:t>Qué</a:t>
            </a:r>
            <a:br>
              <a:rPr b="0" i="0" lang="es-E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s-E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restaurante </a:t>
            </a:r>
            <a:r>
              <a:rPr b="1" i="0" lang="es-E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Corralejo Fast Food</a:t>
            </a:r>
            <a:r>
              <a:rPr b="0" i="0" lang="es-E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presenta dificultades en la organización de los pedidos, el manejo de la información de los platos del menú y el control de los domicilios, los cuales solo se realizan cuando el cliente se encuentra cerca del restaurante, lo que puede generar desorden en los registros y demoras en la atención.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3"/>
          <p:cNvSpPr txBox="1"/>
          <p:nvPr/>
        </p:nvSpPr>
        <p:spPr>
          <a:xfrm>
            <a:off x="6773571" y="2551837"/>
            <a:ext cx="4754300" cy="37548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s-ES" sz="2200" u="none" cap="none" strike="noStrike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rPr>
              <a:t>Para qué</a:t>
            </a:r>
            <a:br>
              <a:rPr b="0" i="0" lang="es-E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s-E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Por esta razón, se propone desarrollar un </a:t>
            </a:r>
            <a:r>
              <a:rPr b="1" i="0" lang="es-E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sistema de información</a:t>
            </a:r>
            <a:r>
              <a:rPr b="0" i="0" lang="es-E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que permita organizar el inventario de pedidos, la información de los platos y la gestión de domicilios cercanos, con el fin de mejorar la atención al cliente y optimizar los procesos del restaurante.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"/>
          <p:cNvSpPr txBox="1"/>
          <p:nvPr/>
        </p:nvSpPr>
        <p:spPr>
          <a:xfrm>
            <a:off x="664127" y="1931098"/>
            <a:ext cx="10863743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0" lang="es-E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¿De qué manera el desarrollo e implementación de un sistema de información centralizado permitirá optimizar la gestión de pedidos, en el restaurante "</a:t>
            </a:r>
            <a:r>
              <a:rPr b="1" i="0" lang="es-E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Corralejo Fast Food</a:t>
            </a:r>
            <a:r>
              <a:rPr b="0" i="0" lang="es-E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", disminuyendo las pérdidas económicas y mejorando la eficiencia en la atención al cliente?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4"/>
          <p:cNvSpPr txBox="1"/>
          <p:nvPr/>
        </p:nvSpPr>
        <p:spPr>
          <a:xfrm>
            <a:off x="664128" y="578003"/>
            <a:ext cx="10863743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Font typeface="Work Sans"/>
              <a:buNone/>
            </a:pPr>
            <a:r>
              <a:rPr b="1" i="0" lang="es-ES" sz="4800" u="none" cap="none" strike="noStrike">
                <a:solidFill>
                  <a:schemeClr val="accent6"/>
                </a:solidFill>
                <a:latin typeface="Work Sans"/>
                <a:ea typeface="Work Sans"/>
                <a:cs typeface="Work Sans"/>
                <a:sym typeface="Work Sans"/>
              </a:rPr>
              <a:t>Pregunta Problema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9" name="Google Shape;11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58986" y="3376526"/>
            <a:ext cx="5074024" cy="276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"/>
          <p:cNvSpPr txBox="1"/>
          <p:nvPr/>
        </p:nvSpPr>
        <p:spPr>
          <a:xfrm>
            <a:off x="2305564" y="1160392"/>
            <a:ext cx="3295196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Font typeface="Work Sans"/>
              <a:buNone/>
            </a:pPr>
            <a:r>
              <a:rPr b="1" i="0" lang="es-ES" sz="4800" u="none" cap="none" strike="noStrike">
                <a:solidFill>
                  <a:schemeClr val="accent6"/>
                </a:solidFill>
                <a:latin typeface="Work Sans"/>
                <a:ea typeface="Work Sans"/>
                <a:cs typeface="Work Sans"/>
                <a:sym typeface="Work Sans"/>
              </a:rPr>
              <a:t>Justificación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5" name="Google Shape;125;p5"/>
          <p:cNvCxnSpPr/>
          <p:nvPr/>
        </p:nvCxnSpPr>
        <p:spPr>
          <a:xfrm>
            <a:off x="2829391" y="1999227"/>
            <a:ext cx="2247544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6" name="Google Shape;126;p5"/>
          <p:cNvSpPr txBox="1"/>
          <p:nvPr/>
        </p:nvSpPr>
        <p:spPr>
          <a:xfrm>
            <a:off x="1310674" y="2632363"/>
            <a:ext cx="5514998" cy="28623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E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implementación de un sistema digital dentro del restaurante es necesaria para mejorar el control del inventario y la gestión de pedidos, ya que el manejo manual actual genera errores, pérdidas de insumos y fallas en la atención al cliente. Un sistema centralizado permitirá organizar la información en tiempo real, reducir congestiones en horas pico, agilizar los pedidos y apoyar la toma de decisiones, optimizando los procesos internos y mejorando la eficiencia operativa del restaurante.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7" name="Google Shape;127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16558" y="659924"/>
            <a:ext cx="3692102" cy="55381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6"/>
          <p:cNvSpPr txBox="1"/>
          <p:nvPr/>
        </p:nvSpPr>
        <p:spPr>
          <a:xfrm>
            <a:off x="293246" y="1856809"/>
            <a:ext cx="7154725" cy="6765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s-E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🎯</a:t>
            </a:r>
            <a:r>
              <a:rPr b="1" i="0" lang="es-ES" sz="4400" u="none" cap="none" strike="noStrike">
                <a:solidFill>
                  <a:srgbClr val="38AA00"/>
                </a:solidFill>
                <a:latin typeface="Work Sans"/>
                <a:ea typeface="Work Sans"/>
                <a:cs typeface="Work Sans"/>
                <a:sym typeface="Work Sans"/>
              </a:rPr>
              <a:t>Objetivo General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3" name="Google Shape;133;p6"/>
          <p:cNvCxnSpPr/>
          <p:nvPr/>
        </p:nvCxnSpPr>
        <p:spPr>
          <a:xfrm>
            <a:off x="2557278" y="2533407"/>
            <a:ext cx="1425934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4" name="Google Shape;134;p6"/>
          <p:cNvSpPr txBox="1"/>
          <p:nvPr/>
        </p:nvSpPr>
        <p:spPr>
          <a:xfrm>
            <a:off x="1074875" y="3036612"/>
            <a:ext cx="6120252" cy="2031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E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Desarrollar</a:t>
            </a:r>
            <a:r>
              <a:rPr b="0" i="0" lang="es-E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un sistema de información que permita la gestión de los platos del menú del restaurante Corralejo Fast Food y, simultáneamente, implementar un módulo de ventas en línea dirigido a los clientes, con el fin de organizar la información, registrar pedidos y generar tickets de manera eficiente, mejorando así la atención al cliente y la operatividad del negocio.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Vectores de Objetivo general png - Descarga vectores gratis de gran calidad  de Freepik | Freepik" id="135" name="Google Shape;135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00816" y="1648691"/>
            <a:ext cx="3874655" cy="38746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0" name="Google Shape;140;p7"/>
          <p:cNvCxnSpPr/>
          <p:nvPr/>
        </p:nvCxnSpPr>
        <p:spPr>
          <a:xfrm>
            <a:off x="3346486" y="1228433"/>
            <a:ext cx="1425934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41" name="Google Shape;141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66215" y="887058"/>
            <a:ext cx="7729507" cy="5970942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7"/>
          <p:cNvSpPr txBox="1"/>
          <p:nvPr/>
        </p:nvSpPr>
        <p:spPr>
          <a:xfrm>
            <a:off x="3215825" y="418846"/>
            <a:ext cx="6235552" cy="6765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s-E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🎯</a:t>
            </a:r>
            <a:r>
              <a:rPr b="1" i="0" lang="es-ES" sz="4400" u="none" cap="none" strike="noStrike">
                <a:solidFill>
                  <a:srgbClr val="38AA00"/>
                </a:solidFill>
                <a:latin typeface="Work Sans"/>
                <a:ea typeface="Work Sans"/>
                <a:cs typeface="Work Sans"/>
                <a:sym typeface="Work Sans"/>
              </a:rPr>
              <a:t>Objetivos Específicos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8"/>
          <p:cNvSpPr txBox="1"/>
          <p:nvPr/>
        </p:nvSpPr>
        <p:spPr>
          <a:xfrm>
            <a:off x="3341086" y="665145"/>
            <a:ext cx="5509842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Font typeface="Work Sans"/>
              <a:buNone/>
            </a:pPr>
            <a:r>
              <a:rPr b="1" i="0" lang="es-ES" sz="4800" u="none" cap="none" strike="noStrike">
                <a:solidFill>
                  <a:schemeClr val="accent6"/>
                </a:solidFill>
                <a:latin typeface="Work Sans"/>
                <a:ea typeface="Work Sans"/>
                <a:cs typeface="Work Sans"/>
                <a:sym typeface="Work Sans"/>
              </a:rPr>
              <a:t>Módulos del Sistema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8" name="Google Shape;148;p8"/>
          <p:cNvCxnSpPr/>
          <p:nvPr/>
        </p:nvCxnSpPr>
        <p:spPr>
          <a:xfrm>
            <a:off x="4972228" y="1485507"/>
            <a:ext cx="2247544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9" name="Google Shape;149;p8"/>
          <p:cNvSpPr txBox="1"/>
          <p:nvPr/>
        </p:nvSpPr>
        <p:spPr>
          <a:xfrm>
            <a:off x="713509" y="1578152"/>
            <a:ext cx="10764981" cy="48013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b="1" i="0" lang="es-E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Gestión de Pedidos: </a:t>
            </a:r>
            <a:r>
              <a:rPr b="0" i="0" lang="es-E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Permite registrar, organizar y hacer seguimiento a los pedidos realizados por los clientes en el restaurante o a domicilio</a:t>
            </a:r>
            <a:br>
              <a:rPr b="0" i="0" lang="es-E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b="1" i="0" lang="es-E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Administración de Platos del Menú: </a:t>
            </a:r>
            <a:r>
              <a:rPr b="0" i="0" lang="es-E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Permite registrar, editar y eliminar los platos disponibles en el restaurante, incluyendo su descripción, precio e imagen</a:t>
            </a:r>
            <a:br>
              <a:rPr b="0" i="0" lang="es-E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b="1" i="0" lang="es-E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Generación de comprobante de pedido: </a:t>
            </a:r>
            <a:r>
              <a:rPr b="0" i="0" lang="es-E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Permite generar un ticket o comprobante con la información del pedido realizado por el cliente</a:t>
            </a:r>
            <a:br>
              <a:rPr b="0" i="0" lang="es-E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b="1" i="0" lang="es-E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Reportes: </a:t>
            </a:r>
            <a:r>
              <a:rPr b="0" i="0" lang="es-E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Permite consultar información relacionada con los pedidos registrados y los platos más solicitados</a:t>
            </a:r>
            <a:br>
              <a:rPr b="0" i="0" lang="es-E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b="1" i="0" lang="es-E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Gestión de Usuarios y Roles: </a:t>
            </a:r>
            <a:r>
              <a:rPr b="0" i="0" lang="es-E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Permite administrar el acceso al sistema según el rol de cada empleado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b="1" i="0" lang="es-E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Ventas Online / Pedidos a través de la Web</a:t>
            </a:r>
            <a:r>
              <a:rPr b="0" i="0" lang="es-E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Permite a los clientes visualizar el menú digital, seleccionar platos, armar su pedido, ingresar datos de entrega (dirección, teléfono), elegir método de pago y realizar el seguimiento del estado del pedido en tiempo real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9"/>
          <p:cNvSpPr txBox="1"/>
          <p:nvPr/>
        </p:nvSpPr>
        <p:spPr>
          <a:xfrm>
            <a:off x="1188095" y="1025196"/>
            <a:ext cx="9815809" cy="741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AA00"/>
              </a:buClr>
              <a:buSzPts val="4400"/>
              <a:buFont typeface="Work Sans"/>
              <a:buNone/>
            </a:pPr>
            <a:r>
              <a:rPr b="1" i="0" lang="es-ES" sz="4400" u="none" cap="none" strike="noStrike">
                <a:solidFill>
                  <a:srgbClr val="38AA00"/>
                </a:solidFill>
                <a:latin typeface="Work Sans"/>
                <a:ea typeface="Work Sans"/>
                <a:cs typeface="Work Sans"/>
                <a:sym typeface="Work Sans"/>
              </a:rPr>
              <a:t>Delimitación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5" name="Google Shape;155;p9"/>
          <p:cNvCxnSpPr/>
          <p:nvPr/>
        </p:nvCxnSpPr>
        <p:spPr>
          <a:xfrm>
            <a:off x="5438449" y="1692865"/>
            <a:ext cx="1425934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56" name="Google Shape;156;p9"/>
          <p:cNvSpPr txBox="1"/>
          <p:nvPr/>
        </p:nvSpPr>
        <p:spPr>
          <a:xfrm>
            <a:off x="701964" y="2425369"/>
            <a:ext cx="10788072" cy="25853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E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sistema está diseñado para optimizar la operación interna del restaurante, enfocándose en el control del inventario y la gestión de pedidos tanto en el local como en el servicio a domicilio. Permite organizar insumos, registrar movimientos, administrar el menú y manejar pedidos de forma ordenada dentro del flujo diario de trabajo.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E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 alcance se limita a las funciones esenciales del negocio. No incluye integraciones externas, pagos digitales, sistemas contables avanzados, seguimiento para clientes, ni herramientas de marketing o facturación electrónica compleja. El objetivo es mejorar la organización interna, agilizar procesos y apoyar la toma de decisiones mediante reportes básicos.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0"/>
          <p:cNvSpPr txBox="1"/>
          <p:nvPr/>
        </p:nvSpPr>
        <p:spPr>
          <a:xfrm>
            <a:off x="2977841" y="822163"/>
            <a:ext cx="6236324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Work Sans"/>
              <a:buNone/>
            </a:pPr>
            <a:r>
              <a:rPr b="1" i="0" lang="es-ES" sz="60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LISTA DE CHEQUEO</a:t>
            </a:r>
            <a:endParaRPr b="1" i="0" sz="7200" u="none" cap="none" strike="noStrik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cxnSp>
        <p:nvCxnSpPr>
          <p:cNvPr id="162" name="Google Shape;162;p10"/>
          <p:cNvCxnSpPr/>
          <p:nvPr/>
        </p:nvCxnSpPr>
        <p:spPr>
          <a:xfrm>
            <a:off x="5013630" y="1753361"/>
            <a:ext cx="2247544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63" name="Google Shape;163;p10"/>
          <p:cNvSpPr txBox="1"/>
          <p:nvPr/>
        </p:nvSpPr>
        <p:spPr>
          <a:xfrm>
            <a:off x="645049" y="2921168"/>
            <a:ext cx="10984706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oto Sans Symbols"/>
              <a:buChar char="⮚"/>
            </a:pPr>
            <a:r>
              <a:rPr b="0" i="0" lang="es-ES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Diagrama de proceso actual </a:t>
            </a:r>
            <a:br>
              <a:rPr b="0" i="0" lang="es-ES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2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oto Sans Symbols"/>
              <a:buChar char="⮚"/>
            </a:pPr>
            <a:r>
              <a:rPr b="0" i="0" lang="es-ES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Macroprocesos con 2 – 3 subprocesos clave</a:t>
            </a:r>
            <a:endParaRPr b="0" i="0" sz="2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4" name="Google Shape;164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38297" y="2510959"/>
            <a:ext cx="2951735" cy="3600049"/>
          </a:xfrm>
          <a:prstGeom prst="roundRect">
            <a:avLst>
              <a:gd fmla="val 8594" name="adj"/>
            </a:avLst>
          </a:prstGeom>
          <a:solidFill>
            <a:srgbClr val="ECECEC"/>
          </a:solidFill>
          <a:ln>
            <a:noFill/>
          </a:ln>
          <a:effectLst>
            <a:reflection blurRad="0" dir="5400000" dist="5000" endA="0" endPos="28000" kx="0" rotWithShape="0" algn="bl" stA="38000" stPos="0" sy="-100000" ky="0"/>
          </a:effec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1"/>
          <p:cNvSpPr txBox="1"/>
          <p:nvPr/>
        </p:nvSpPr>
        <p:spPr>
          <a:xfrm>
            <a:off x="1188095" y="277867"/>
            <a:ext cx="9815809" cy="741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AA00"/>
              </a:buClr>
              <a:buSzPts val="4400"/>
              <a:buFont typeface="Work Sans"/>
              <a:buNone/>
            </a:pPr>
            <a:r>
              <a:rPr b="1" i="0" lang="es-ES" sz="4400" u="none" cap="none" strike="noStrike">
                <a:solidFill>
                  <a:srgbClr val="38AA00"/>
                </a:solidFill>
                <a:latin typeface="Work Sans"/>
                <a:ea typeface="Work Sans"/>
                <a:cs typeface="Work Sans"/>
                <a:sym typeface="Work Sans"/>
              </a:rPr>
              <a:t>Diagrama de Procesos</a:t>
            </a:r>
            <a:endParaRPr b="1" i="0" sz="4400" u="none" cap="none" strike="noStrike">
              <a:solidFill>
                <a:srgbClr val="38AA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pic>
        <p:nvPicPr>
          <p:cNvPr id="170" name="Google Shape;17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6858" y="1019430"/>
            <a:ext cx="11210366" cy="58103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2"/>
          <p:cNvSpPr txBox="1"/>
          <p:nvPr/>
        </p:nvSpPr>
        <p:spPr>
          <a:xfrm>
            <a:off x="2977841" y="822163"/>
            <a:ext cx="6236324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Work Sans"/>
              <a:buNone/>
            </a:pPr>
            <a:r>
              <a:rPr b="1" i="0" lang="es-ES" sz="60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LISTA DE CHEQUEO</a:t>
            </a:r>
            <a:endParaRPr b="1" i="0" sz="7200" u="none" cap="none" strike="noStrik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cxnSp>
        <p:nvCxnSpPr>
          <p:cNvPr id="176" name="Google Shape;176;p12"/>
          <p:cNvCxnSpPr/>
          <p:nvPr/>
        </p:nvCxnSpPr>
        <p:spPr>
          <a:xfrm>
            <a:off x="5013630" y="1753361"/>
            <a:ext cx="2247544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77" name="Google Shape;177;p12"/>
          <p:cNvSpPr txBox="1"/>
          <p:nvPr/>
        </p:nvSpPr>
        <p:spPr>
          <a:xfrm>
            <a:off x="645049" y="2921168"/>
            <a:ext cx="10984706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oto Sans Symbols"/>
              <a:buChar char="⮚"/>
            </a:pPr>
            <a:r>
              <a:rPr b="0" i="0" lang="es-ES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Recolección de datos, por el método de encuestas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8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t/>
            </a:r>
            <a:endParaRPr b="0" i="0" sz="2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oto Sans Symbols"/>
              <a:buChar char="⮚"/>
            </a:pPr>
            <a:r>
              <a:rPr b="0" i="0" lang="es-ES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Estadísticas descriptivas </a:t>
            </a:r>
            <a:endParaRPr b="0" i="0" sz="2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8" name="Google Shape;178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69207" y="3295624"/>
            <a:ext cx="4822793" cy="3562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3"/>
          <p:cNvSpPr txBox="1"/>
          <p:nvPr/>
        </p:nvSpPr>
        <p:spPr>
          <a:xfrm>
            <a:off x="1188095" y="609561"/>
            <a:ext cx="9815809" cy="741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AA00"/>
              </a:buClr>
              <a:buSzPts val="4400"/>
              <a:buFont typeface="Work Sans"/>
              <a:buNone/>
            </a:pPr>
            <a:r>
              <a:rPr b="1" i="0" lang="es-ES" sz="4400" u="none" cap="none" strike="noStrike">
                <a:solidFill>
                  <a:srgbClr val="38AA00"/>
                </a:solidFill>
                <a:latin typeface="Work Sans"/>
                <a:ea typeface="Work Sans"/>
                <a:cs typeface="Work Sans"/>
                <a:sym typeface="Work Sans"/>
              </a:rPr>
              <a:t>Encuesta Restaurante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13"/>
          <p:cNvSpPr txBox="1"/>
          <p:nvPr/>
        </p:nvSpPr>
        <p:spPr>
          <a:xfrm>
            <a:off x="743527" y="1944905"/>
            <a:ext cx="1070494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E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técnica que utilizamos para la recolección de datos fue (Encuestas).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13"/>
          <p:cNvSpPr txBox="1"/>
          <p:nvPr/>
        </p:nvSpPr>
        <p:spPr>
          <a:xfrm>
            <a:off x="743527" y="2565456"/>
            <a:ext cx="10704946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E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Para ello, fuimos a un restaurante especifico (</a:t>
            </a:r>
            <a:r>
              <a:rPr b="1" i="0" lang="es-E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CORRALEJO FAST FOOD</a:t>
            </a:r>
            <a:r>
              <a:rPr b="0" i="0" lang="es-E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), donde se encuesto a cada uno de los participantes que encontrábamos dentro del restaurante, obteniendo resultados y hallazgos que nos favorecen al momento de presentar un sistema de información completo.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6" name="Google Shape;186;p13"/>
          <p:cNvCxnSpPr/>
          <p:nvPr/>
        </p:nvCxnSpPr>
        <p:spPr>
          <a:xfrm>
            <a:off x="5438449" y="1277230"/>
            <a:ext cx="1425934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Gráficas interactivas, Ayuda de Numbers" id="187" name="Google Shape;187;p13"/>
          <p:cNvPicPr preferRelativeResize="0"/>
          <p:nvPr/>
        </p:nvPicPr>
        <p:blipFill rotWithShape="1">
          <a:blip r:embed="rId3">
            <a:alphaModFix/>
          </a:blip>
          <a:srcRect b="37138" l="0" r="0" t="3333"/>
          <a:stretch/>
        </p:blipFill>
        <p:spPr>
          <a:xfrm>
            <a:off x="1312332" y="3999346"/>
            <a:ext cx="9448800" cy="20412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Google Shape;192;p14"/>
          <p:cNvPicPr preferRelativeResize="0"/>
          <p:nvPr/>
        </p:nvPicPr>
        <p:blipFill rotWithShape="1">
          <a:blip r:embed="rId3">
            <a:alphaModFix/>
          </a:blip>
          <a:srcRect b="11650" l="0" r="0" t="17643"/>
          <a:stretch/>
        </p:blipFill>
        <p:spPr>
          <a:xfrm>
            <a:off x="222636" y="1471694"/>
            <a:ext cx="11746727" cy="4671993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14"/>
          <p:cNvSpPr txBox="1"/>
          <p:nvPr/>
        </p:nvSpPr>
        <p:spPr>
          <a:xfrm>
            <a:off x="1188095" y="609561"/>
            <a:ext cx="9815809" cy="741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AA00"/>
              </a:buClr>
              <a:buSzPts val="4400"/>
              <a:buFont typeface="Work Sans"/>
              <a:buNone/>
            </a:pPr>
            <a:r>
              <a:rPr b="1" i="0" lang="es-ES" sz="4400" u="none" cap="none" strike="noStrike">
                <a:solidFill>
                  <a:srgbClr val="38AA00"/>
                </a:solidFill>
                <a:latin typeface="Work Sans"/>
                <a:ea typeface="Work Sans"/>
                <a:cs typeface="Work Sans"/>
                <a:sym typeface="Work Sans"/>
              </a:rPr>
              <a:t>Resultado de la Encuesta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4" name="Google Shape;194;p14"/>
          <p:cNvCxnSpPr/>
          <p:nvPr/>
        </p:nvCxnSpPr>
        <p:spPr>
          <a:xfrm>
            <a:off x="5438449" y="1277230"/>
            <a:ext cx="1425934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5"/>
          <p:cNvSpPr txBox="1"/>
          <p:nvPr/>
        </p:nvSpPr>
        <p:spPr>
          <a:xfrm>
            <a:off x="2977841" y="822163"/>
            <a:ext cx="6236324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Work Sans"/>
              <a:buNone/>
            </a:pPr>
            <a:r>
              <a:rPr b="1" i="0" lang="es-ES" sz="60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LISTA DE CHEQUEO</a:t>
            </a:r>
            <a:endParaRPr b="1" i="0" sz="7200" u="none" cap="none" strike="noStrik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cxnSp>
        <p:nvCxnSpPr>
          <p:cNvPr id="200" name="Google Shape;200;p15"/>
          <p:cNvCxnSpPr/>
          <p:nvPr/>
        </p:nvCxnSpPr>
        <p:spPr>
          <a:xfrm>
            <a:off x="5013630" y="1753361"/>
            <a:ext cx="2247544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01" name="Google Shape;201;p15"/>
          <p:cNvSpPr txBox="1"/>
          <p:nvPr/>
        </p:nvSpPr>
        <p:spPr>
          <a:xfrm>
            <a:off x="645049" y="2368914"/>
            <a:ext cx="10984706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oto Sans Symbols"/>
              <a:buChar char="⮚"/>
            </a:pPr>
            <a:r>
              <a:rPr b="0" i="0" lang="es-ES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Elaboración de los requerimientos funcionales y no funcionales bajo el estándar. </a:t>
            </a:r>
            <a:endParaRPr b="0" i="0" sz="2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2" name="Google Shape;20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23171" y="2979655"/>
            <a:ext cx="3545657" cy="35456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6"/>
          <p:cNvSpPr txBox="1"/>
          <p:nvPr/>
        </p:nvSpPr>
        <p:spPr>
          <a:xfrm>
            <a:off x="1188095" y="609561"/>
            <a:ext cx="9815809" cy="741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AA00"/>
              </a:buClr>
              <a:buSzPts val="4400"/>
              <a:buFont typeface="Work Sans"/>
              <a:buNone/>
            </a:pPr>
            <a:r>
              <a:rPr b="1" i="0" lang="es-ES" sz="4400" u="none" cap="none" strike="noStrike">
                <a:solidFill>
                  <a:srgbClr val="38AA00"/>
                </a:solidFill>
                <a:latin typeface="Work Sans"/>
                <a:ea typeface="Work Sans"/>
                <a:cs typeface="Work Sans"/>
                <a:sym typeface="Work Sans"/>
              </a:rPr>
              <a:t>Especificación de Requerimientos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16"/>
          <p:cNvSpPr txBox="1"/>
          <p:nvPr/>
        </p:nvSpPr>
        <p:spPr>
          <a:xfrm>
            <a:off x="701963" y="1252835"/>
            <a:ext cx="1078807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E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Requerimientos de Negocio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16"/>
          <p:cNvSpPr txBox="1"/>
          <p:nvPr/>
        </p:nvSpPr>
        <p:spPr>
          <a:xfrm>
            <a:off x="701964" y="2492168"/>
            <a:ext cx="5256384" cy="341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E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Optimizar el control del inventario para reducir pérdidas económicas.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E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Mejorar la gestión de pedidos en local y a domicilio.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E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Apoyar la toma de decisiones operativas mediante información organizada.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16"/>
          <p:cNvSpPr txBox="1"/>
          <p:nvPr/>
        </p:nvSpPr>
        <p:spPr>
          <a:xfrm>
            <a:off x="6233652" y="2492168"/>
            <a:ext cx="5256384" cy="31393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E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Reducir tiempos de espera en horas pico.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E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Centralizar la información operativa del restaurante.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E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Estandarizar los procesos internos del restaurante.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16"/>
          <p:cNvSpPr/>
          <p:nvPr/>
        </p:nvSpPr>
        <p:spPr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Reducir tiempos de espera en horas pico.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16"/>
          <p:cNvSpPr/>
          <p:nvPr/>
        </p:nvSpPr>
        <p:spPr>
          <a:xfrm>
            <a:off x="701961" y="2104653"/>
            <a:ext cx="655453" cy="369332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6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E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01.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6"/>
          <p:cNvSpPr/>
          <p:nvPr/>
        </p:nvSpPr>
        <p:spPr>
          <a:xfrm>
            <a:off x="701962" y="3498557"/>
            <a:ext cx="655453" cy="369332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6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E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03.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6"/>
          <p:cNvSpPr/>
          <p:nvPr/>
        </p:nvSpPr>
        <p:spPr>
          <a:xfrm>
            <a:off x="701961" y="4874278"/>
            <a:ext cx="655453" cy="369332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6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E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05.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6"/>
          <p:cNvSpPr/>
          <p:nvPr/>
        </p:nvSpPr>
        <p:spPr>
          <a:xfrm>
            <a:off x="6233652" y="2122836"/>
            <a:ext cx="655453" cy="369332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6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E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02.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6"/>
          <p:cNvSpPr/>
          <p:nvPr/>
        </p:nvSpPr>
        <p:spPr>
          <a:xfrm>
            <a:off x="6230254" y="3498557"/>
            <a:ext cx="655453" cy="369332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6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E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04.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6"/>
          <p:cNvSpPr/>
          <p:nvPr/>
        </p:nvSpPr>
        <p:spPr>
          <a:xfrm>
            <a:off x="6230254" y="4874278"/>
            <a:ext cx="655453" cy="369332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6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E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06.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7"/>
          <p:cNvSpPr txBox="1"/>
          <p:nvPr/>
        </p:nvSpPr>
        <p:spPr>
          <a:xfrm>
            <a:off x="1188095" y="609561"/>
            <a:ext cx="9815809" cy="741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AA00"/>
              </a:buClr>
              <a:buSzPts val="4400"/>
              <a:buFont typeface="Work Sans"/>
              <a:buNone/>
            </a:pPr>
            <a:r>
              <a:rPr b="1" i="0" lang="es-ES" sz="4400" u="none" cap="none" strike="noStrike">
                <a:solidFill>
                  <a:srgbClr val="38AA00"/>
                </a:solidFill>
                <a:latin typeface="Work Sans"/>
                <a:ea typeface="Work Sans"/>
                <a:cs typeface="Work Sans"/>
                <a:sym typeface="Work Sans"/>
              </a:rPr>
              <a:t>Especificación de Requerimientos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17"/>
          <p:cNvSpPr txBox="1"/>
          <p:nvPr/>
        </p:nvSpPr>
        <p:spPr>
          <a:xfrm>
            <a:off x="701963" y="1252835"/>
            <a:ext cx="1078807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E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Requerimientos de Usuario (Historias de Usuario)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17"/>
          <p:cNvSpPr txBox="1"/>
          <p:nvPr/>
        </p:nvSpPr>
        <p:spPr>
          <a:xfrm>
            <a:off x="701963" y="5420499"/>
            <a:ext cx="1078807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E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Objetivos Específicos 		Módulos del Sistema 		Roles Implícitos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Gestión de personal, definición de perspectivas, orientación a objetivos.  Organización del trabajo en equipo. Coach de negocios, ejecutivo de empresa  y personajes de dibujos animados de personal | Vector gratuito" id="225" name="Google Shape;22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83426" y="2168092"/>
            <a:ext cx="2521816" cy="252181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17433" y="2168092"/>
            <a:ext cx="3969327" cy="2646218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617249" y="2407155"/>
            <a:ext cx="2168092" cy="21680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8"/>
          <p:cNvSpPr txBox="1"/>
          <p:nvPr/>
        </p:nvSpPr>
        <p:spPr>
          <a:xfrm>
            <a:off x="1188095" y="609561"/>
            <a:ext cx="9815809" cy="741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AA00"/>
              </a:buClr>
              <a:buSzPts val="4400"/>
              <a:buFont typeface="Work Sans"/>
              <a:buNone/>
            </a:pPr>
            <a:r>
              <a:rPr b="1" i="0" lang="es-ES" sz="4400" u="none" cap="none" strike="noStrike">
                <a:solidFill>
                  <a:srgbClr val="38AA00"/>
                </a:solidFill>
                <a:latin typeface="Work Sans"/>
                <a:ea typeface="Work Sans"/>
                <a:cs typeface="Work Sans"/>
                <a:sym typeface="Work Sans"/>
              </a:rPr>
              <a:t>Especificación de Requerimientos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18"/>
          <p:cNvSpPr txBox="1"/>
          <p:nvPr/>
        </p:nvSpPr>
        <p:spPr>
          <a:xfrm>
            <a:off x="701963" y="1252835"/>
            <a:ext cx="1078807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E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Requerimientos de Usuario (Historias de Usuario)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18"/>
          <p:cNvSpPr/>
          <p:nvPr/>
        </p:nvSpPr>
        <p:spPr>
          <a:xfrm>
            <a:off x="8451273" y="2041240"/>
            <a:ext cx="3038762" cy="1293091"/>
          </a:xfrm>
          <a:prstGeom prst="round2DiagRect">
            <a:avLst>
              <a:gd fmla="val 16667" name="adj1"/>
              <a:gd fmla="val 0" name="adj2"/>
            </a:avLst>
          </a:prstGeom>
          <a:solidFill>
            <a:schemeClr val="accent6"/>
          </a:solidFill>
          <a:ln cap="flat" cmpd="sng" w="12700">
            <a:solidFill>
              <a:srgbClr val="E1EFD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E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Registra Pedidos </a:t>
            </a:r>
            <a:br>
              <a:rPr b="0" i="0" lang="es-E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s-E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Domicilio / Local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18"/>
          <p:cNvSpPr/>
          <p:nvPr/>
        </p:nvSpPr>
        <p:spPr>
          <a:xfrm flipH="1">
            <a:off x="6931892" y="3546767"/>
            <a:ext cx="3038762" cy="1293091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548135"/>
          </a:solidFill>
          <a:ln cap="flat" cmpd="sng" w="12700">
            <a:solidFill>
              <a:srgbClr val="E1EFD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E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Registra Ventas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E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Diarias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18"/>
          <p:cNvSpPr/>
          <p:nvPr/>
        </p:nvSpPr>
        <p:spPr>
          <a:xfrm>
            <a:off x="8451273" y="5052295"/>
            <a:ext cx="3038762" cy="1293091"/>
          </a:xfrm>
          <a:prstGeom prst="round2DiagRect">
            <a:avLst>
              <a:gd fmla="val 16667" name="adj1"/>
              <a:gd fmla="val 0" name="adj2"/>
            </a:avLst>
          </a:prstGeom>
          <a:solidFill>
            <a:schemeClr val="accent6"/>
          </a:solidFill>
          <a:ln cap="flat" cmpd="sng" w="12700">
            <a:solidFill>
              <a:srgbClr val="E1EFD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E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Gestiona y Controla </a:t>
            </a:r>
            <a:br>
              <a:rPr b="0" i="0" lang="es-E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s-E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Usuario / Acceso / Rol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8"/>
          <p:cNvSpPr/>
          <p:nvPr/>
        </p:nvSpPr>
        <p:spPr>
          <a:xfrm flipH="1">
            <a:off x="701963" y="2041239"/>
            <a:ext cx="3038762" cy="1293091"/>
          </a:xfrm>
          <a:prstGeom prst="round2DiagRect">
            <a:avLst>
              <a:gd fmla="val 16667" name="adj1"/>
              <a:gd fmla="val 0" name="adj2"/>
            </a:avLst>
          </a:prstGeom>
          <a:solidFill>
            <a:schemeClr val="accent6"/>
          </a:solidFill>
          <a:ln cap="flat" cmpd="sng" w="12700">
            <a:solidFill>
              <a:srgbClr val="E1EFD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E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Gestiona Inventario del Restaurante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18"/>
          <p:cNvSpPr/>
          <p:nvPr/>
        </p:nvSpPr>
        <p:spPr>
          <a:xfrm>
            <a:off x="2221344" y="3546766"/>
            <a:ext cx="3038762" cy="1293091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548135"/>
          </a:solidFill>
          <a:ln cap="flat" cmpd="sng" w="12700">
            <a:solidFill>
              <a:srgbClr val="E1EFD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E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Administra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E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Productos / Menú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18"/>
          <p:cNvSpPr/>
          <p:nvPr/>
        </p:nvSpPr>
        <p:spPr>
          <a:xfrm flipH="1">
            <a:off x="701963" y="5052294"/>
            <a:ext cx="3038762" cy="1293091"/>
          </a:xfrm>
          <a:prstGeom prst="round2DiagRect">
            <a:avLst>
              <a:gd fmla="val 16667" name="adj1"/>
              <a:gd fmla="val 0" name="adj2"/>
            </a:avLst>
          </a:prstGeom>
          <a:solidFill>
            <a:schemeClr val="accent6"/>
          </a:solidFill>
          <a:ln cap="flat" cmpd="sng" w="12700">
            <a:solidFill>
              <a:srgbClr val="E1EFD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E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Analiza Horarios de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E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Alta Demanda.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18"/>
          <p:cNvSpPr/>
          <p:nvPr/>
        </p:nvSpPr>
        <p:spPr>
          <a:xfrm>
            <a:off x="6629399" y="3163458"/>
            <a:ext cx="858982" cy="858982"/>
          </a:xfrm>
          <a:prstGeom prst="ellipse">
            <a:avLst/>
          </a:prstGeom>
          <a:solidFill>
            <a:srgbClr val="A8D08C"/>
          </a:solidFill>
          <a:ln cap="flat" cmpd="sng" w="76200">
            <a:solidFill>
              <a:srgbClr val="E1EFD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8"/>
          <p:cNvSpPr/>
          <p:nvPr/>
        </p:nvSpPr>
        <p:spPr>
          <a:xfrm>
            <a:off x="4807526" y="3163458"/>
            <a:ext cx="858982" cy="858982"/>
          </a:xfrm>
          <a:prstGeom prst="ellipse">
            <a:avLst/>
          </a:prstGeom>
          <a:solidFill>
            <a:srgbClr val="A8D08C"/>
          </a:solidFill>
          <a:ln cap="flat" cmpd="sng" w="76200">
            <a:solidFill>
              <a:srgbClr val="E1EFD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2020-10-01T23:51:28Z</dcterms:created>
  <dc:creator>Jorge Enrique Pedraza Sanchez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299739c-ad3d-4908-806e-4d91151a6e13_Enabled">
    <vt:lpwstr>true</vt:lpwstr>
  </property>
  <property fmtid="{D5CDD505-2E9C-101B-9397-08002B2CF9AE}" pid="3" name="MSIP_Label_1299739c-ad3d-4908-806e-4d91151a6e13_Method">
    <vt:lpwstr>Standard</vt:lpwstr>
  </property>
  <property fmtid="{D5CDD505-2E9C-101B-9397-08002B2CF9AE}" pid="4" name="MSIP_Label_1299739c-ad3d-4908-806e-4d91151a6e13_Name">
    <vt:lpwstr>All Employees (Unrestricted)</vt:lpwstr>
  </property>
  <property fmtid="{D5CDD505-2E9C-101B-9397-08002B2CF9AE}" pid="5" name="MSIP_Label_1299739c-ad3d-4908-806e-4d91151a6e13_SiteId">
    <vt:lpwstr>cbc2c381-2f2e-4d93-91d1-506c9316ace7</vt:lpwstr>
  </property>
  <property fmtid="{D5CDD505-2E9C-101B-9397-08002B2CF9AE}" pid="6" name="MSIP_Label_1299739c-ad3d-4908-806e-4d91151a6e13_ContentBits">
    <vt:lpwstr>0</vt:lpwstr>
  </property>
  <property fmtid="{D5CDD505-2E9C-101B-9397-08002B2CF9AE}" pid="7" name="MSIP_Label_1299739c-ad3d-4908-806e-4d91151a6e13_SetDate">
    <vt:lpwstr>2022-08-12T19:17:55Z</vt:lpwstr>
  </property>
  <property fmtid="{D5CDD505-2E9C-101B-9397-08002B2CF9AE}" pid="8" name="MSIP_Label_1299739c-ad3d-4908-806e-4d91151a6e13_ActionId">
    <vt:lpwstr>8c6bc714-34a9-4b82-914e-50b1377a2da4</vt:lpwstr>
  </property>
</Properties>
</file>