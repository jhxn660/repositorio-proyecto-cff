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2000"/>
  <p:notesSz cx="6858000" cy="9144000"/>
  <p:embeddedFontLst>
    <p:embeddedFont>
      <p:font typeface="Work Sans"/>
      <p:bold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hGC72bd+EWY6w4tmjpZLlaPq8r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WorkSans-bold.fnt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WorkSans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871308" y="1077086"/>
            <a:ext cx="513232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Work Sans"/>
              <a:buNone/>
            </a:pPr>
            <a:r>
              <a:rPr b="1" i="0" lang="es-ES" sz="54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RESTAURANTE</a:t>
            </a:r>
            <a:endParaRPr b="1" i="0" sz="40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871307" y="1919598"/>
            <a:ext cx="6942655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54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CORRALEJO FAST FOOD</a:t>
            </a:r>
            <a:endParaRPr b="1" i="0" sz="5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71307" y="3116414"/>
            <a:ext cx="397778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Integrantes grupo 3: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Diego Rincón Reyes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Julián Delgado López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Alberto Camargo Morales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Mateo Chaves Mejía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Sebastián Amaya Manrique </a:t>
            </a:r>
            <a:endParaRPr/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64245" y="4544291"/>
            <a:ext cx="1456447" cy="145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3" name="Google Shape;103;p2"/>
          <p:cNvSpPr txBox="1"/>
          <p:nvPr/>
        </p:nvSpPr>
        <p:spPr>
          <a:xfrm>
            <a:off x="645049" y="2161315"/>
            <a:ext cx="10984706" cy="40626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Nombre del proyecto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Planteamiento problema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Justificación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Pregunta del proyecto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 general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Objetivos específicos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Delimitaciones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96200" y="2362200"/>
            <a:ext cx="4495800" cy="44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 txBox="1"/>
          <p:nvPr/>
        </p:nvSpPr>
        <p:spPr>
          <a:xfrm>
            <a:off x="664128" y="981414"/>
            <a:ext cx="10863743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i="0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  <a:endParaRPr/>
          </a:p>
        </p:txBody>
      </p:sp>
      <p:cxnSp>
        <p:nvCxnSpPr>
          <p:cNvPr id="110" name="Google Shape;110;p3"/>
          <p:cNvCxnSpPr/>
          <p:nvPr/>
        </p:nvCxnSpPr>
        <p:spPr>
          <a:xfrm>
            <a:off x="4972228" y="1812411"/>
            <a:ext cx="224754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1" name="Google Shape;111;p3"/>
          <p:cNvSpPr txBox="1"/>
          <p:nvPr/>
        </p:nvSpPr>
        <p:spPr>
          <a:xfrm>
            <a:off x="1044616" y="2551837"/>
            <a:ext cx="4754300" cy="41242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2200" u="none" cap="none" strike="noStrike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Qué</a:t>
            </a:r>
            <a:br>
              <a:rPr b="0" i="0" lang="es-ES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restaurante </a:t>
            </a:r>
            <a:r>
              <a:rPr b="1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Corralejo Fast Food</a:t>
            </a:r>
            <a:r>
              <a:rPr b="0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presenta dificultades en la organización de los pedidos, el manejo de la información de los platos del menú y el control de los domicilios, los cuales solo se realizan cuando el cliente se encuentra cerca del restaurante, lo que puede generar desorden en los registros y demoras en la atención.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6773571" y="2551837"/>
            <a:ext cx="4754300" cy="3754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 sz="2200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Para qué</a:t>
            </a:r>
            <a:br>
              <a:rPr lang="es-E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esta razón, se propone desarrollar un </a:t>
            </a:r>
            <a:r>
              <a:rPr b="1"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de información</a:t>
            </a:r>
            <a:r>
              <a:rPr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que permita organizar el inventario de pedidos, la información de los platos y la gestión de domicilios cercanos, con el fin de mejorar la atención al cliente y optimizar los procesos del restaurante.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/>
        </p:nvSpPr>
        <p:spPr>
          <a:xfrm>
            <a:off x="664127" y="1931098"/>
            <a:ext cx="1086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¿De qué manera el desarrollo de un sistema de información puede mejorar la gestión del menú, la organización de los pedidos, el registro de las ventas, la gestión de PQRS e Indicadores de Negocio en el restaurante Corralejo Fast Food, disminuyendo la pérdida operativa y optimizando la eficiencia del negocio?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664128" y="578003"/>
            <a:ext cx="10863743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Pregunta Problema</a:t>
            </a:r>
            <a:endParaRPr/>
          </a:p>
        </p:txBody>
      </p:sp>
      <p:pic>
        <p:nvPicPr>
          <p:cNvPr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8986" y="3376526"/>
            <a:ext cx="5074024" cy="276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 txBox="1"/>
          <p:nvPr/>
        </p:nvSpPr>
        <p:spPr>
          <a:xfrm>
            <a:off x="2305564" y="1160392"/>
            <a:ext cx="329519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  <a:endParaRPr/>
          </a:p>
        </p:txBody>
      </p:sp>
      <p:cxnSp>
        <p:nvCxnSpPr>
          <p:cNvPr id="125" name="Google Shape;125;p5"/>
          <p:cNvCxnSpPr/>
          <p:nvPr/>
        </p:nvCxnSpPr>
        <p:spPr>
          <a:xfrm>
            <a:off x="2829391" y="1999227"/>
            <a:ext cx="224754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6" name="Google Shape;126;p5"/>
          <p:cNvSpPr txBox="1"/>
          <p:nvPr/>
        </p:nvSpPr>
        <p:spPr>
          <a:xfrm>
            <a:off x="1310674" y="2632363"/>
            <a:ext cx="5514998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implementación de un sistema digital dentro del restaurante es necesaria para mejorar el control del inventario y la gestión de pedidos, ya que el manejo manual actual genera errores, pérdidas de insumos y fallas en la atención al cliente. Un sistema centralizado permitirá organizar la información en tiempo real, reducir congestiones en horas pico, agilizar los pedidos y apoyar la toma de decisiones, optimizando los procesos internos y mejorando la eficiencia operativa del restaurante.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16558" y="659924"/>
            <a:ext cx="3692102" cy="55381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 txBox="1"/>
          <p:nvPr/>
        </p:nvSpPr>
        <p:spPr>
          <a:xfrm>
            <a:off x="293246" y="1856809"/>
            <a:ext cx="7154725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E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/>
          </a:p>
        </p:txBody>
      </p:sp>
      <p:cxnSp>
        <p:nvCxnSpPr>
          <p:cNvPr id="133" name="Google Shape;133;p6"/>
          <p:cNvCxnSpPr/>
          <p:nvPr/>
        </p:nvCxnSpPr>
        <p:spPr>
          <a:xfrm>
            <a:off x="2557278" y="2533407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6"/>
          <p:cNvSpPr txBox="1"/>
          <p:nvPr/>
        </p:nvSpPr>
        <p:spPr>
          <a:xfrm>
            <a:off x="1074875" y="3036612"/>
            <a:ext cx="6120252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 sistema de información que permita la gestión de los platos del menú del restaurante Corralejo Fast Food y, simultáneamente, implementar un módulo de ventas en línea dirigido a los clientes, con el fin de organizar la información, registrar pedidos y generar tickets de manera eficiente, mejorando así la atención al cliente y la operatividad del negocio.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Vectores de Objetivo general png - Descarga vectores gratis de gran calidad  de Freepik | Freepik" id="135" name="Google Shape;13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00816" y="1648691"/>
            <a:ext cx="3874655" cy="3874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7"/>
          <p:cNvCxnSpPr/>
          <p:nvPr/>
        </p:nvCxnSpPr>
        <p:spPr>
          <a:xfrm>
            <a:off x="3346486" y="1228433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1" name="Google Shape;1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66215" y="887058"/>
            <a:ext cx="7729507" cy="597094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7"/>
          <p:cNvSpPr txBox="1"/>
          <p:nvPr/>
        </p:nvSpPr>
        <p:spPr>
          <a:xfrm>
            <a:off x="3215825" y="418846"/>
            <a:ext cx="6235552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E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/>
          <p:nvPr/>
        </p:nvSpPr>
        <p:spPr>
          <a:xfrm>
            <a:off x="1188095" y="1025196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Delimitación</a:t>
            </a:r>
            <a:endParaRPr/>
          </a:p>
        </p:txBody>
      </p:sp>
      <p:cxnSp>
        <p:nvCxnSpPr>
          <p:cNvPr id="148" name="Google Shape;148;p9"/>
          <p:cNvCxnSpPr/>
          <p:nvPr/>
        </p:nvCxnSpPr>
        <p:spPr>
          <a:xfrm>
            <a:off x="5438449" y="1692865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9" name="Google Shape;149;p9"/>
          <p:cNvSpPr txBox="1"/>
          <p:nvPr/>
        </p:nvSpPr>
        <p:spPr>
          <a:xfrm>
            <a:off x="701964" y="2425369"/>
            <a:ext cx="10788072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sistema está diseñado para optimizar la operación interna del restaurante, enfocándose en el control del inventario y la gestión de pedidos tanto en el local como en el servicio a domicilio. Permite organizar insumos, registrar movimientos, administrar el menú y manejar pedidos de forma ordenada dentro del flujo diario de trabajo.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 alcance se limita a las funciones esenciales del negocio. No incluye integraciones externas, pagos digitales, sistemas contables avanzados, seguimiento para clientes, ni herramientas de marketing o facturación electrónica compleja. El objetivo es mejorar la organización interna, agilizar procesos y apoyar la toma de decisiones mediante reportes básicos.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55" name="Google Shape;155;p10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6" name="Google Shape;156;p10"/>
          <p:cNvSpPr txBox="1"/>
          <p:nvPr/>
        </p:nvSpPr>
        <p:spPr>
          <a:xfrm>
            <a:off x="645049" y="2921168"/>
            <a:ext cx="1098470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Diagrama de proceso actual </a:t>
            </a:r>
            <a:b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Macroprocesos con 2 – 3 subprocesos clave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38297" y="2510959"/>
            <a:ext cx="2951735" cy="3600049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/>
          <p:nvPr/>
        </p:nvSpPr>
        <p:spPr>
          <a:xfrm>
            <a:off x="1188095" y="277867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Procesos</a:t>
            </a:r>
            <a:endParaRPr b="1" sz="44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63" name="Google Shape;1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58" y="1019430"/>
            <a:ext cx="11210366" cy="5810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69" name="Google Shape;169;p12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0" name="Google Shape;170;p12"/>
          <p:cNvSpPr txBox="1"/>
          <p:nvPr/>
        </p:nvSpPr>
        <p:spPr>
          <a:xfrm>
            <a:off x="645049" y="2921168"/>
            <a:ext cx="1098470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Recolección de datos, por el método de encuestas</a:t>
            </a:r>
            <a:endParaRPr/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Estadísticas descriptivas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69207" y="3295624"/>
            <a:ext cx="4822793" cy="35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Encuesta Restaurante</a:t>
            </a:r>
            <a:endParaRPr/>
          </a:p>
        </p:txBody>
      </p:sp>
      <p:sp>
        <p:nvSpPr>
          <p:cNvPr id="177" name="Google Shape;177;p13"/>
          <p:cNvSpPr txBox="1"/>
          <p:nvPr/>
        </p:nvSpPr>
        <p:spPr>
          <a:xfrm>
            <a:off x="743527" y="1944905"/>
            <a:ext cx="107049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técnica que utilizamos para la recolección de datos fue (Encuestas).</a:t>
            </a:r>
            <a:endParaRPr/>
          </a:p>
        </p:txBody>
      </p:sp>
      <p:sp>
        <p:nvSpPr>
          <p:cNvPr id="178" name="Google Shape;178;p13"/>
          <p:cNvSpPr txBox="1"/>
          <p:nvPr/>
        </p:nvSpPr>
        <p:spPr>
          <a:xfrm>
            <a:off x="743527" y="2565456"/>
            <a:ext cx="10704946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 ello, fuimos a un restaurante especifico (</a:t>
            </a: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CORRALEJO FAST FOOD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donde se encuesto a cada uno de los participantes que encontrábamos dentro del restaurante, obteniendo resultados y hallazgos que nos favorecen al momento de presentar un sistema de información completo.</a:t>
            </a:r>
            <a:endParaRPr/>
          </a:p>
        </p:txBody>
      </p:sp>
      <p:cxnSp>
        <p:nvCxnSpPr>
          <p:cNvPr id="179" name="Google Shape;179;p13"/>
          <p:cNvCxnSpPr/>
          <p:nvPr/>
        </p:nvCxnSpPr>
        <p:spPr>
          <a:xfrm>
            <a:off x="5438449" y="1277230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Gráficas interactivas, Ayuda de Numbers" id="180" name="Google Shape;180;p13"/>
          <p:cNvPicPr preferRelativeResize="0"/>
          <p:nvPr/>
        </p:nvPicPr>
        <p:blipFill rotWithShape="1">
          <a:blip r:embed="rId3">
            <a:alphaModFix/>
          </a:blip>
          <a:srcRect b="37138" l="0" r="0" t="3333"/>
          <a:stretch/>
        </p:blipFill>
        <p:spPr>
          <a:xfrm>
            <a:off x="1312332" y="3999346"/>
            <a:ext cx="9448800" cy="20412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14"/>
          <p:cNvPicPr preferRelativeResize="0"/>
          <p:nvPr/>
        </p:nvPicPr>
        <p:blipFill rotWithShape="1">
          <a:blip r:embed="rId3">
            <a:alphaModFix/>
          </a:blip>
          <a:srcRect b="11650" l="0" r="0" t="17643"/>
          <a:stretch/>
        </p:blipFill>
        <p:spPr>
          <a:xfrm>
            <a:off x="222636" y="1471694"/>
            <a:ext cx="11746727" cy="4671993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4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Resultado de la Encuesta</a:t>
            </a:r>
            <a:endParaRPr/>
          </a:p>
        </p:txBody>
      </p:sp>
      <p:cxnSp>
        <p:nvCxnSpPr>
          <p:cNvPr id="187" name="Google Shape;187;p14"/>
          <p:cNvCxnSpPr/>
          <p:nvPr/>
        </p:nvCxnSpPr>
        <p:spPr>
          <a:xfrm>
            <a:off x="5438449" y="1277230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5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93" name="Google Shape;193;p15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4" name="Google Shape;194;p15"/>
          <p:cNvSpPr txBox="1"/>
          <p:nvPr/>
        </p:nvSpPr>
        <p:spPr>
          <a:xfrm>
            <a:off x="645049" y="2368914"/>
            <a:ext cx="1098470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Elaboración de los requerimientos funcionales y no funcionales bajo el estándar.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23171" y="2979655"/>
            <a:ext cx="3545657" cy="3545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Especificación de Requerimientos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701963" y="1252835"/>
            <a:ext cx="1078807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Requerimientos de Negocio</a:t>
            </a:r>
            <a:endParaRPr/>
          </a:p>
        </p:txBody>
      </p:sp>
      <p:sp>
        <p:nvSpPr>
          <p:cNvPr id="202" name="Google Shape;202;p16"/>
          <p:cNvSpPr txBox="1"/>
          <p:nvPr/>
        </p:nvSpPr>
        <p:spPr>
          <a:xfrm>
            <a:off x="701964" y="2492168"/>
            <a:ext cx="5256384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Optimizar el control del inventario para reducir pérdidas económicas.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gestión de pedidos en local y a domicilio.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Apoyar la toma de decisiones operativas mediante información organizada.</a:t>
            </a:r>
            <a:endParaRPr/>
          </a:p>
        </p:txBody>
      </p:sp>
      <p:sp>
        <p:nvSpPr>
          <p:cNvPr id="203" name="Google Shape;203;p16"/>
          <p:cNvSpPr txBox="1"/>
          <p:nvPr/>
        </p:nvSpPr>
        <p:spPr>
          <a:xfrm>
            <a:off x="6233652" y="2492168"/>
            <a:ext cx="5256384" cy="3139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Reducir tiempos de espera en horas pico.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Centralizar la información operativa del restaurante.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Estandarizar los procesos internos del restaurante.</a:t>
            </a:r>
            <a:endParaRPr/>
          </a:p>
        </p:txBody>
      </p:sp>
      <p:sp>
        <p:nvSpPr>
          <p:cNvPr id="204" name="Google Shape;204;p16"/>
          <p:cNvSpPr/>
          <p:nvPr/>
        </p:nvSpPr>
        <p:spPr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1143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Reducir tiempos de espera en horas pico.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6"/>
          <p:cNvSpPr/>
          <p:nvPr/>
        </p:nvSpPr>
        <p:spPr>
          <a:xfrm>
            <a:off x="701961" y="2104653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6"/>
          <p:cNvSpPr/>
          <p:nvPr/>
        </p:nvSpPr>
        <p:spPr>
          <a:xfrm>
            <a:off x="701962" y="3498557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701961" y="4874278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6"/>
          <p:cNvSpPr/>
          <p:nvPr/>
        </p:nvSpPr>
        <p:spPr>
          <a:xfrm>
            <a:off x="6233652" y="2122836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6"/>
          <p:cNvSpPr/>
          <p:nvPr/>
        </p:nvSpPr>
        <p:spPr>
          <a:xfrm>
            <a:off x="6230254" y="3498557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6"/>
          <p:cNvSpPr/>
          <p:nvPr/>
        </p:nvSpPr>
        <p:spPr>
          <a:xfrm>
            <a:off x="6230254" y="4874278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