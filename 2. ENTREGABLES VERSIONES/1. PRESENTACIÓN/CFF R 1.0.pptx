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76" r:id="rId2"/>
  </p:sldMasterIdLst>
  <p:notesMasterIdLst>
    <p:notesMasterId r:id="rId14"/>
  </p:notesMasterIdLst>
  <p:handoutMasterIdLst>
    <p:handoutMasterId r:id="rId15"/>
  </p:handoutMasterIdLst>
  <p:sldIdLst>
    <p:sldId id="538" r:id="rId3"/>
    <p:sldId id="553" r:id="rId4"/>
    <p:sldId id="535" r:id="rId5"/>
    <p:sldId id="554" r:id="rId6"/>
    <p:sldId id="555" r:id="rId7"/>
    <p:sldId id="556" r:id="rId8"/>
    <p:sldId id="557" r:id="rId9"/>
    <p:sldId id="558" r:id="rId10"/>
    <p:sldId id="559" r:id="rId11"/>
    <p:sldId id="560" r:id="rId12"/>
    <p:sldId id="531" r:id="rId1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95" userDrawn="1">
          <p15:clr>
            <a:srgbClr val="A4A3A4"/>
          </p15:clr>
        </p15:guide>
        <p15:guide id="2" pos="3840" userDrawn="1">
          <p15:clr>
            <a:srgbClr val="A4A3A4"/>
          </p15:clr>
        </p15:guide>
        <p15:guide id="3" orient="horz" pos="18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8AA00"/>
    <a:srgbClr val="4D4D4C"/>
    <a:srgbClr val="343433"/>
    <a:srgbClr val="FF6C00"/>
    <a:srgbClr val="766363"/>
    <a:srgbClr val="FFF5EA"/>
    <a:srgbClr val="0032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Estilo temático 1 - Énfasis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Estilo temático 1 - Énfasis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114" autoAdjust="0"/>
    <p:restoredTop sz="97242"/>
  </p:normalViewPr>
  <p:slideViewPr>
    <p:cSldViewPr snapToGrid="0">
      <p:cViewPr varScale="1">
        <p:scale>
          <a:sx n="112" d="100"/>
          <a:sy n="112" d="100"/>
        </p:scale>
        <p:origin x="660" y="96"/>
      </p:cViewPr>
      <p:guideLst>
        <p:guide orient="horz" pos="595"/>
        <p:guide pos="3840"/>
        <p:guide orient="horz" pos="187"/>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7" d="100"/>
          <a:sy n="97" d="100"/>
        </p:scale>
        <p:origin x="5336"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27/04/2026</a:t>
            </a:fld>
            <a:endParaRPr lang="es-CO"/>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27/04/2026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63B2455A-C5F3-E25A-EF8D-7F36CE68F11A}"/>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5D23A29B-0E46-3CD9-05E0-52D8AD4836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EBBDC416-DB7B-675D-A801-4E96364EF3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17616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53A0DC8E-C192-6562-3A59-C59294E8E41F}"/>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FE8B5539-CD9F-1B9E-E236-9C0CA7DE17C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C4984A8E-8DCB-7987-8AD2-1261231253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83046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98067977-C381-0733-64C5-BB376CFE5194}"/>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9CD46711-2641-BEE5-C4D0-118A5257B7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C1E062DB-5316-9351-2B6A-D5C4D50EF2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9938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5416207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381621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27/04/2026</a:t>
            </a:fld>
            <a:endParaRPr lang="es-CO"/>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1456598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En blanco" type="blank">
  <p:cSld name="En blanco">
    <p:spTree>
      <p:nvGrpSpPr>
        <p:cNvPr id="1" name="Shape 15"/>
        <p:cNvGrpSpPr/>
        <p:nvPr/>
      </p:nvGrpSpPr>
      <p:grpSpPr>
        <a:xfrm>
          <a:off x="0" y="0"/>
          <a:ext cx="0" cy="0"/>
          <a:chOff x="0" y="0"/>
          <a:chExt cx="0" cy="0"/>
        </a:xfrm>
      </p:grpSpPr>
      <p:sp>
        <p:nvSpPr>
          <p:cNvPr id="16" name="Google Shape;16;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4079734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Diapositiva de título" type="title">
  <p:cSld name="Diapositiva de título">
    <p:spTree>
      <p:nvGrpSpPr>
        <p:cNvPr id="1" name="Shape 19"/>
        <p:cNvGrpSpPr/>
        <p:nvPr/>
      </p:nvGrpSpPr>
      <p:grpSpPr>
        <a:xfrm>
          <a:off x="0" y="0"/>
          <a:ext cx="0" cy="0"/>
          <a:chOff x="0" y="0"/>
          <a:chExt cx="0" cy="0"/>
        </a:xfrm>
      </p:grpSpPr>
      <p:sp>
        <p:nvSpPr>
          <p:cNvPr id="20" name="Google Shape;20;p1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2" name="Google Shape;22;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21397344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y objetos" type="obj">
  <p:cSld name="Título y objetos">
    <p:spTree>
      <p:nvGrpSpPr>
        <p:cNvPr id="1" name="Shape 25"/>
        <p:cNvGrpSpPr/>
        <p:nvPr/>
      </p:nvGrpSpPr>
      <p:grpSpPr>
        <a:xfrm>
          <a:off x="0" y="0"/>
          <a:ext cx="0" cy="0"/>
          <a:chOff x="0" y="0"/>
          <a:chExt cx="0" cy="0"/>
        </a:xfrm>
      </p:grpSpPr>
      <p:sp>
        <p:nvSpPr>
          <p:cNvPr id="26" name="Google Shape;26;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8" name="Google Shape;28;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11285720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Encabezado de sección" type="secHead">
  <p:cSld name="Encabezado de sección">
    <p:spTree>
      <p:nvGrpSpPr>
        <p:cNvPr id="1" name="Shape 31"/>
        <p:cNvGrpSpPr/>
        <p:nvPr/>
      </p:nvGrpSpPr>
      <p:grpSpPr>
        <a:xfrm>
          <a:off x="0" y="0"/>
          <a:ext cx="0" cy="0"/>
          <a:chOff x="0" y="0"/>
          <a:chExt cx="0" cy="0"/>
        </a:xfrm>
      </p:grpSpPr>
      <p:sp>
        <p:nvSpPr>
          <p:cNvPr id="32" name="Google Shape;32;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19629325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os objetos" type="twoObj">
  <p:cSld name="Dos objetos">
    <p:spTree>
      <p:nvGrpSpPr>
        <p:cNvPr id="1" name="Shape 37"/>
        <p:cNvGrpSpPr/>
        <p:nvPr/>
      </p:nvGrpSpPr>
      <p:grpSpPr>
        <a:xfrm>
          <a:off x="0" y="0"/>
          <a:ext cx="0" cy="0"/>
          <a:chOff x="0" y="0"/>
          <a:chExt cx="0" cy="0"/>
        </a:xfrm>
      </p:grpSpPr>
      <p:sp>
        <p:nvSpPr>
          <p:cNvPr id="38" name="Google Shape;38;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14940917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ación" type="twoTxTwoObj">
  <p:cSld name="Comparación">
    <p:spTree>
      <p:nvGrpSpPr>
        <p:cNvPr id="1" name="Shape 44"/>
        <p:cNvGrpSpPr/>
        <p:nvPr/>
      </p:nvGrpSpPr>
      <p:grpSpPr>
        <a:xfrm>
          <a:off x="0" y="0"/>
          <a:ext cx="0" cy="0"/>
          <a:chOff x="0" y="0"/>
          <a:chExt cx="0" cy="0"/>
        </a:xfrm>
      </p:grpSpPr>
      <p:sp>
        <p:nvSpPr>
          <p:cNvPr id="45" name="Google Shape;45;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177104679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olo el título" type="titleOnly">
  <p:cSld name="Solo el título">
    <p:spTree>
      <p:nvGrpSpPr>
        <p:cNvPr id="1" name="Shape 53"/>
        <p:cNvGrpSpPr/>
        <p:nvPr/>
      </p:nvGrpSpPr>
      <p:grpSpPr>
        <a:xfrm>
          <a:off x="0" y="0"/>
          <a:ext cx="0" cy="0"/>
          <a:chOff x="0" y="0"/>
          <a:chExt cx="0" cy="0"/>
        </a:xfrm>
      </p:grpSpPr>
      <p:sp>
        <p:nvSpPr>
          <p:cNvPr id="54" name="Google Shape;54;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37514785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ido con título" type="objTx">
  <p:cSld name="Contenido con título">
    <p:spTree>
      <p:nvGrpSpPr>
        <p:cNvPr id="1" name="Shape 58"/>
        <p:cNvGrpSpPr/>
        <p:nvPr/>
      </p:nvGrpSpPr>
      <p:grpSpPr>
        <a:xfrm>
          <a:off x="0" y="0"/>
          <a:ext cx="0" cy="0"/>
          <a:chOff x="0" y="0"/>
          <a:chExt cx="0" cy="0"/>
        </a:xfrm>
      </p:grpSpPr>
      <p:sp>
        <p:nvSpPr>
          <p:cNvPr id="59" name="Google Shape;59;p2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31018013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n con título" type="picTx">
  <p:cSld name="Imagen con título">
    <p:spTree>
      <p:nvGrpSpPr>
        <p:cNvPr id="1" name="Shape 65"/>
        <p:cNvGrpSpPr/>
        <p:nvPr/>
      </p:nvGrpSpPr>
      <p:grpSpPr>
        <a:xfrm>
          <a:off x="0" y="0"/>
          <a:ext cx="0" cy="0"/>
          <a:chOff x="0" y="0"/>
          <a:chExt cx="0" cy="0"/>
        </a:xfrm>
      </p:grpSpPr>
      <p:sp>
        <p:nvSpPr>
          <p:cNvPr id="66" name="Google Shape;66;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2"/>
          <p:cNvSpPr>
            <a:spLocks noGrp="1"/>
          </p:cNvSpPr>
          <p:nvPr>
            <p:ph type="pic" idx="2"/>
          </p:nvPr>
        </p:nvSpPr>
        <p:spPr>
          <a:xfrm>
            <a:off x="5183188" y="987425"/>
            <a:ext cx="6172200" cy="4873625"/>
          </a:xfrm>
          <a:prstGeom prst="rect">
            <a:avLst/>
          </a:prstGeom>
          <a:noFill/>
          <a:ln>
            <a:noFill/>
          </a:ln>
        </p:spPr>
      </p:sp>
      <p:sp>
        <p:nvSpPr>
          <p:cNvPr id="68" name="Google Shape;68;p2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890898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ítulo y texto vertical" type="vertTx">
  <p:cSld name="Título y texto vertical">
    <p:spTree>
      <p:nvGrpSpPr>
        <p:cNvPr id="1" name="Shape 72"/>
        <p:cNvGrpSpPr/>
        <p:nvPr/>
      </p:nvGrpSpPr>
      <p:grpSpPr>
        <a:xfrm>
          <a:off x="0" y="0"/>
          <a:ext cx="0" cy="0"/>
          <a:chOff x="0" y="0"/>
          <a:chExt cx="0" cy="0"/>
        </a:xfrm>
      </p:grpSpPr>
      <p:sp>
        <p:nvSpPr>
          <p:cNvPr id="73" name="Google Shape;73;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6801148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Título vertical y texto">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2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25998065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84"/>
        <p:cNvGrpSpPr/>
        <p:nvPr/>
      </p:nvGrpSpPr>
      <p:grpSpPr>
        <a:xfrm>
          <a:off x="0" y="0"/>
          <a:ext cx="0" cy="0"/>
          <a:chOff x="0" y="0"/>
          <a:chExt cx="0" cy="0"/>
        </a:xfrm>
      </p:grpSpPr>
      <p:sp>
        <p:nvSpPr>
          <p:cNvPr id="85" name="Google Shape;85;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7" name="Google Shape;87;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28681640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27/04/2026</a:t>
            </a:fld>
            <a:endParaRPr lang="es-CO"/>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extLst>
      <p:ext uri="{BB962C8B-B14F-4D97-AF65-F5344CB8AC3E}">
        <p14:creationId xmlns:p14="http://schemas.microsoft.com/office/powerpoint/2010/main" val="388905770"/>
      </p:ext>
    </p:extLst>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1210077" y="3735607"/>
            <a:ext cx="5132328" cy="1477328"/>
          </a:xfrm>
          <a:prstGeom prst="rect">
            <a:avLst/>
          </a:prstGeom>
          <a:noFill/>
        </p:spPr>
        <p:txBody>
          <a:bodyPr wrap="square" rtlCol="0">
            <a:spAutoFit/>
          </a:bodyPr>
          <a:lstStyle/>
          <a:p>
            <a:pPr marL="0" marR="0" lvl="0" indent="0" algn="l" defTabSz="914400" rtl="0" eaLnBrk="1" fontAlgn="auto" latinLnBrk="0" hangingPunct="1">
              <a:spcBef>
                <a:spcPts val="0"/>
              </a:spcBef>
              <a:spcAft>
                <a:spcPts val="0"/>
              </a:spcAft>
              <a:buClrTx/>
              <a:buSzTx/>
              <a:buFontTx/>
              <a:buNone/>
              <a:tabLst/>
              <a:defRPr/>
            </a:pPr>
            <a:r>
              <a:rPr kumimoji="0" lang="es-MX" b="1" i="0" u="none" strike="noStrike" kern="1200" cap="none" spc="0" normalizeH="0" baseline="0" noProof="0" dirty="0">
                <a:ln>
                  <a:noFill/>
                </a:ln>
                <a:effectLst/>
                <a:uLnTx/>
                <a:uFillTx/>
                <a:latin typeface="Work Sans Light" pitchFamily="2" charset="0"/>
              </a:rPr>
              <a:t>Amaya Sebastian</a:t>
            </a:r>
          </a:p>
          <a:p>
            <a:pPr marL="0" marR="0" lvl="0" indent="0" algn="l" defTabSz="914400" rtl="0" eaLnBrk="1" fontAlgn="auto" latinLnBrk="0" hangingPunct="1">
              <a:spcBef>
                <a:spcPts val="0"/>
              </a:spcBef>
              <a:spcAft>
                <a:spcPts val="0"/>
              </a:spcAft>
              <a:buClrTx/>
              <a:buSzTx/>
              <a:buFontTx/>
              <a:buNone/>
              <a:tabLst/>
              <a:defRPr/>
            </a:pPr>
            <a:r>
              <a:rPr kumimoji="0" lang="es-MX" b="1" i="0" u="none" strike="noStrike" kern="1200" cap="none" spc="0" normalizeH="0" baseline="0" noProof="0" dirty="0">
                <a:ln>
                  <a:noFill/>
                </a:ln>
                <a:effectLst/>
                <a:uLnTx/>
                <a:uFillTx/>
                <a:latin typeface="Work Sans Light" pitchFamily="2" charset="0"/>
              </a:rPr>
              <a:t>Camargo Alberto</a:t>
            </a:r>
          </a:p>
          <a:p>
            <a:pPr marL="0" marR="0" lvl="0" indent="0" algn="l" defTabSz="914400" rtl="0" eaLnBrk="1" fontAlgn="auto" latinLnBrk="0" hangingPunct="1">
              <a:spcBef>
                <a:spcPts val="0"/>
              </a:spcBef>
              <a:spcAft>
                <a:spcPts val="0"/>
              </a:spcAft>
              <a:buClrTx/>
              <a:buSzTx/>
              <a:buFontTx/>
              <a:buNone/>
              <a:tabLst/>
              <a:defRPr/>
            </a:pPr>
            <a:r>
              <a:rPr kumimoji="0" lang="es-MX" b="1" i="0" u="none" strike="noStrike" kern="1200" cap="none" spc="0" normalizeH="0" baseline="0" noProof="0" dirty="0">
                <a:ln>
                  <a:noFill/>
                </a:ln>
                <a:effectLst/>
                <a:uLnTx/>
                <a:uFillTx/>
                <a:latin typeface="Work Sans Light" pitchFamily="2" charset="0"/>
              </a:rPr>
              <a:t>Chaves Mateo</a:t>
            </a:r>
          </a:p>
          <a:p>
            <a:pPr marL="0" marR="0" lvl="0" indent="0" algn="l" defTabSz="914400" rtl="0" eaLnBrk="1" fontAlgn="auto" latinLnBrk="0" hangingPunct="1">
              <a:spcBef>
                <a:spcPts val="0"/>
              </a:spcBef>
              <a:spcAft>
                <a:spcPts val="0"/>
              </a:spcAft>
              <a:buClrTx/>
              <a:buSzTx/>
              <a:buFontTx/>
              <a:buNone/>
              <a:tabLst/>
              <a:defRPr/>
            </a:pPr>
            <a:r>
              <a:rPr kumimoji="0" lang="es-MX" b="1" i="0" u="none" strike="noStrike" kern="1200" cap="none" spc="0" normalizeH="0" baseline="0" noProof="0" dirty="0">
                <a:ln>
                  <a:noFill/>
                </a:ln>
                <a:effectLst/>
                <a:uLnTx/>
                <a:uFillTx/>
                <a:latin typeface="Work Sans Light" pitchFamily="2" charset="0"/>
              </a:rPr>
              <a:t>Delgado Julian</a:t>
            </a:r>
          </a:p>
          <a:p>
            <a:pPr marL="0" marR="0" lvl="0" indent="0" algn="l" defTabSz="914400" rtl="0" eaLnBrk="1" fontAlgn="auto" latinLnBrk="0" hangingPunct="1">
              <a:spcBef>
                <a:spcPts val="0"/>
              </a:spcBef>
              <a:spcAft>
                <a:spcPts val="0"/>
              </a:spcAft>
              <a:buClrTx/>
              <a:buSzTx/>
              <a:buFontTx/>
              <a:buNone/>
              <a:tabLst/>
              <a:defRPr/>
            </a:pPr>
            <a:r>
              <a:rPr kumimoji="0" lang="es-MX" b="1" i="0" u="none" strike="noStrike" kern="1200" cap="none" spc="0" normalizeH="0" baseline="0" noProof="0" dirty="0">
                <a:ln>
                  <a:noFill/>
                </a:ln>
                <a:effectLst/>
                <a:uLnTx/>
                <a:uFillTx/>
                <a:latin typeface="Work Sans Light" pitchFamily="2" charset="0"/>
              </a:rPr>
              <a:t>Rincón Diego</a:t>
            </a:r>
            <a:endParaRPr kumimoji="0" lang="es-ES" b="1" i="0" u="none" strike="noStrike" kern="1200" cap="none" spc="0" normalizeH="0" baseline="0" noProof="0" dirty="0">
              <a:ln>
                <a:noFill/>
              </a:ln>
              <a:effectLst/>
              <a:uLnTx/>
              <a:uFillTx/>
              <a:latin typeface="Work Sans Light" pitchFamily="2" charset="0"/>
            </a:endParaRPr>
          </a:p>
        </p:txBody>
      </p:sp>
      <p:sp>
        <p:nvSpPr>
          <p:cNvPr id="6" name="CuadroTexto 5">
            <a:extLst>
              <a:ext uri="{FF2B5EF4-FFF2-40B4-BE49-F238E27FC236}">
                <a16:creationId xmlns:a16="http://schemas.microsoft.com/office/drawing/2014/main" id="{F218FDD2-E383-2A7D-13E2-9BF540D697FC}"/>
              </a:ext>
            </a:extLst>
          </p:cNvPr>
          <p:cNvSpPr txBox="1"/>
          <p:nvPr/>
        </p:nvSpPr>
        <p:spPr>
          <a:xfrm>
            <a:off x="871307" y="3116414"/>
            <a:ext cx="3977783" cy="400110"/>
          </a:xfrm>
          <a:prstGeom prst="rect">
            <a:avLst/>
          </a:prstGeom>
          <a:noFill/>
        </p:spPr>
        <p:txBody>
          <a:bodyPr wrap="square" rtlCol="0">
            <a:spAutoFit/>
          </a:bodyPr>
          <a:lstStyle/>
          <a:p>
            <a:pPr marR="0" lvl="0" algn="l" defTabSz="914400" rtl="0" eaLnBrk="1" fontAlgn="auto" latinLnBrk="0" hangingPunct="1">
              <a:spcBef>
                <a:spcPts val="0"/>
              </a:spcBef>
              <a:spcAft>
                <a:spcPts val="0"/>
              </a:spcAft>
              <a:buClrTx/>
              <a:buSzTx/>
              <a:tabLst/>
              <a:defRPr/>
            </a:pPr>
            <a:endParaRPr lang="es-ES" sz="2000" dirty="0">
              <a:latin typeface="Work Sans Bold Roman" pitchFamily="2" charset="77"/>
            </a:endParaRPr>
          </a:p>
        </p:txBody>
      </p:sp>
      <p:pic>
        <p:nvPicPr>
          <p:cNvPr id="10" name="Imagen 9">
            <a:extLst>
              <a:ext uri="{FF2B5EF4-FFF2-40B4-BE49-F238E27FC236}">
                <a16:creationId xmlns:a16="http://schemas.microsoft.com/office/drawing/2014/main" id="{FDE5A692-A146-1D18-D9BA-7D0E8EC54E88}"/>
              </a:ext>
            </a:extLst>
          </p:cNvPr>
          <p:cNvPicPr>
            <a:picLocks noChangeAspect="1"/>
          </p:cNvPicPr>
          <p:nvPr/>
        </p:nvPicPr>
        <p:blipFill>
          <a:blip r:embed="rId3"/>
          <a:stretch>
            <a:fillRect/>
          </a:stretch>
        </p:blipFill>
        <p:spPr>
          <a:xfrm>
            <a:off x="10541435" y="5212935"/>
            <a:ext cx="873260" cy="873260"/>
          </a:xfrm>
          <a:prstGeom prst="rect">
            <a:avLst/>
          </a:prstGeom>
        </p:spPr>
      </p:pic>
      <p:sp>
        <p:nvSpPr>
          <p:cNvPr id="2" name="CuadroTexto 1">
            <a:extLst>
              <a:ext uri="{FF2B5EF4-FFF2-40B4-BE49-F238E27FC236}">
                <a16:creationId xmlns:a16="http://schemas.microsoft.com/office/drawing/2014/main" id="{11897702-8770-D8C3-1068-2924D6FB0690}"/>
              </a:ext>
            </a:extLst>
          </p:cNvPr>
          <p:cNvSpPr txBox="1"/>
          <p:nvPr/>
        </p:nvSpPr>
        <p:spPr>
          <a:xfrm>
            <a:off x="1210077" y="1273076"/>
            <a:ext cx="5132328" cy="2308324"/>
          </a:xfrm>
          <a:prstGeom prst="rect">
            <a:avLst/>
          </a:prstGeom>
          <a:noFill/>
        </p:spPr>
        <p:txBody>
          <a:bodyPr wrap="square" rtlCol="0">
            <a:spAutoFit/>
          </a:bodyPr>
          <a:lstStyle/>
          <a:p>
            <a:pPr marL="0" marR="0" lvl="0" indent="0" algn="l" defTabSz="914400" rtl="0" eaLnBrk="1" fontAlgn="auto" latinLnBrk="0" hangingPunct="1">
              <a:spcBef>
                <a:spcPts val="0"/>
              </a:spcBef>
              <a:spcAft>
                <a:spcPts val="0"/>
              </a:spcAft>
              <a:buClrTx/>
              <a:buSzTx/>
              <a:buFontTx/>
              <a:buNone/>
              <a:tabLst/>
              <a:defRPr/>
            </a:pPr>
            <a:r>
              <a:rPr lang="es-ES" sz="4800" b="1" dirty="0">
                <a:solidFill>
                  <a:schemeClr val="tx1">
                    <a:lumMod val="50000"/>
                    <a:lumOff val="50000"/>
                  </a:schemeClr>
                </a:solidFill>
                <a:latin typeface="Work Sans" pitchFamily="2" charset="0"/>
              </a:rPr>
              <a:t>SISTEMA DE INFORMACIÓN CFF</a:t>
            </a:r>
            <a:endParaRPr kumimoji="0" lang="es-ES" sz="4800" b="1" i="0" u="none" strike="noStrike" kern="1200" cap="none" spc="0" normalizeH="0" baseline="0" noProof="0" dirty="0">
              <a:ln>
                <a:noFill/>
              </a:ln>
              <a:solidFill>
                <a:schemeClr val="tx1">
                  <a:lumMod val="50000"/>
                  <a:lumOff val="50000"/>
                </a:schemeClr>
              </a:solidFill>
              <a:effectLst/>
              <a:uLnTx/>
              <a:uFillTx/>
              <a:latin typeface="Work Sans" pitchFamily="2" charset="0"/>
            </a:endParaRPr>
          </a:p>
        </p:txBody>
      </p:sp>
    </p:spTree>
    <p:extLst>
      <p:ext uri="{BB962C8B-B14F-4D97-AF65-F5344CB8AC3E}">
        <p14:creationId xmlns:p14="http://schemas.microsoft.com/office/powerpoint/2010/main" val="3409726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9"/>
        <p:cNvGrpSpPr/>
        <p:nvPr/>
      </p:nvGrpSpPr>
      <p:grpSpPr>
        <a:xfrm>
          <a:off x="0" y="0"/>
          <a:ext cx="0" cy="0"/>
          <a:chOff x="0" y="0"/>
          <a:chExt cx="0" cy="0"/>
        </a:xfrm>
      </p:grpSpPr>
      <p:sp>
        <p:nvSpPr>
          <p:cNvPr id="100" name="Google Shape;100;p2"/>
          <p:cNvSpPr txBox="1"/>
          <p:nvPr/>
        </p:nvSpPr>
        <p:spPr>
          <a:xfrm>
            <a:off x="2361452" y="2623935"/>
            <a:ext cx="7469096" cy="3046948"/>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6000"/>
              <a:buFont typeface="Arial"/>
              <a:buNone/>
              <a:tabLst/>
              <a:defRPr/>
            </a:pPr>
            <a:r>
              <a:rPr kumimoji="0" lang="es-MX" sz="6000" b="1" i="0" u="none" strike="noStrike" kern="0" cap="none" spc="0" normalizeH="0" baseline="0" noProof="0" dirty="0">
                <a:ln>
                  <a:noFill/>
                </a:ln>
                <a:solidFill>
                  <a:schemeClr val="bg1"/>
                </a:solidFill>
                <a:effectLst/>
                <a:uLnTx/>
                <a:uFillTx/>
                <a:latin typeface="Work Sans" pitchFamily="2" charset="0"/>
                <a:ea typeface="Work Sans"/>
                <a:cs typeface="Work Sans"/>
                <a:sym typeface="Work Sans"/>
              </a:rPr>
              <a:t>FORMULACIÓN DE PROYECTO</a:t>
            </a:r>
            <a:endParaRPr kumimoji="0" sz="6000" b="0" i="0" u="none" strike="noStrike" kern="0" cap="none" spc="0" normalizeH="0" baseline="0" noProof="0" dirty="0">
              <a:ln>
                <a:noFill/>
              </a:ln>
              <a:solidFill>
                <a:schemeClr val="bg1"/>
              </a:solidFill>
              <a:effectLst/>
              <a:uLnTx/>
              <a:uFillTx/>
              <a:latin typeface="Work Sans" pitchFamily="2" charset="0"/>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Pts val="7200"/>
              <a:buFont typeface="Arial"/>
              <a:buNone/>
              <a:tabLst/>
              <a:defRPr/>
            </a:pPr>
            <a:endParaRPr kumimoji="0" sz="7200" b="1" i="0" u="none" strike="noStrike" kern="0" cap="none" spc="0" normalizeH="0" baseline="0" noProof="0" dirty="0">
              <a:ln>
                <a:noFill/>
              </a:ln>
              <a:solidFill>
                <a:srgbClr val="FFFFFF"/>
              </a:solidFill>
              <a:effectLst/>
              <a:uLnTx/>
              <a:uFillTx/>
              <a:latin typeface="Work Sans"/>
              <a:ea typeface="Work Sans"/>
              <a:cs typeface="Work Sans"/>
              <a:sym typeface="Work Sans"/>
            </a:endParaRPr>
          </a:p>
        </p:txBody>
      </p:sp>
      <p:cxnSp>
        <p:nvCxnSpPr>
          <p:cNvPr id="101" name="Google Shape;101;p2"/>
          <p:cNvCxnSpPr/>
          <p:nvPr/>
        </p:nvCxnSpPr>
        <p:spPr>
          <a:xfrm>
            <a:off x="3225245" y="3604548"/>
            <a:ext cx="5741509" cy="0"/>
          </a:xfrm>
          <a:prstGeom prst="straightConnector1">
            <a:avLst/>
          </a:prstGeom>
          <a:noFill/>
          <a:ln w="12700" cap="flat" cmpd="sng">
            <a:solidFill>
              <a:schemeClr val="lt1"/>
            </a:solidFill>
            <a:prstDash val="solid"/>
            <a:miter lim="800000"/>
            <a:headEnd type="none" w="sm" len="sm"/>
            <a:tailEnd type="none" w="sm" len="sm"/>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Google Shape;106;p3">
            <a:extLst>
              <a:ext uri="{FF2B5EF4-FFF2-40B4-BE49-F238E27FC236}">
                <a16:creationId xmlns:a16="http://schemas.microsoft.com/office/drawing/2014/main" id="{679833CE-AFCA-6A7C-810A-4A9514E22F72}"/>
              </a:ext>
            </a:extLst>
          </p:cNvPr>
          <p:cNvSpPr txBox="1"/>
          <p:nvPr/>
        </p:nvSpPr>
        <p:spPr>
          <a:xfrm>
            <a:off x="589660" y="863707"/>
            <a:ext cx="6510335"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a:buNone/>
            </a:pPr>
            <a:r>
              <a:rPr lang="es-MX" sz="3600" b="1" i="0" u="none" strike="noStrike" cap="none" dirty="0">
                <a:solidFill>
                  <a:srgbClr val="38AA00"/>
                </a:solidFill>
                <a:latin typeface="Work Sans"/>
                <a:ea typeface="Work Sans"/>
                <a:cs typeface="Work Sans"/>
                <a:sym typeface="Work Sans"/>
              </a:rPr>
              <a:t>Planteamiento de Problema</a:t>
            </a:r>
            <a:endParaRPr sz="1400" b="0" i="0" u="none" strike="noStrike" cap="none" dirty="0">
              <a:solidFill>
                <a:srgbClr val="000000"/>
              </a:solidFill>
              <a:latin typeface="Arial"/>
              <a:ea typeface="Arial"/>
              <a:cs typeface="Arial"/>
              <a:sym typeface="Arial"/>
            </a:endParaRPr>
          </a:p>
        </p:txBody>
      </p:sp>
      <p:cxnSp>
        <p:nvCxnSpPr>
          <p:cNvPr id="5" name="Google Shape;109;p3">
            <a:extLst>
              <a:ext uri="{FF2B5EF4-FFF2-40B4-BE49-F238E27FC236}">
                <a16:creationId xmlns:a16="http://schemas.microsoft.com/office/drawing/2014/main" id="{AE7CC0BD-B7C5-372F-CCA5-48EF2F133984}"/>
              </a:ext>
            </a:extLst>
          </p:cNvPr>
          <p:cNvCxnSpPr>
            <a:cxnSpLocks/>
          </p:cNvCxnSpPr>
          <p:nvPr/>
        </p:nvCxnSpPr>
        <p:spPr>
          <a:xfrm>
            <a:off x="726393" y="1490999"/>
            <a:ext cx="6204246" cy="0"/>
          </a:xfrm>
          <a:prstGeom prst="straightConnector1">
            <a:avLst/>
          </a:prstGeom>
          <a:noFill/>
          <a:ln w="12700" cap="flat" cmpd="sng">
            <a:solidFill>
              <a:srgbClr val="4D4D4C"/>
            </a:solidFill>
            <a:prstDash val="solid"/>
            <a:miter lim="800000"/>
            <a:headEnd type="none" w="sm" len="sm"/>
            <a:tailEnd type="none" w="sm" len="sm"/>
          </a:ln>
        </p:spPr>
      </p:cxnSp>
      <p:sp>
        <p:nvSpPr>
          <p:cNvPr id="13" name="Google Shape;107;p3">
            <a:extLst>
              <a:ext uri="{FF2B5EF4-FFF2-40B4-BE49-F238E27FC236}">
                <a16:creationId xmlns:a16="http://schemas.microsoft.com/office/drawing/2014/main" id="{94D1C437-C938-5668-6D8C-5C01314C273D}"/>
              </a:ext>
            </a:extLst>
          </p:cNvPr>
          <p:cNvSpPr txBox="1"/>
          <p:nvPr/>
        </p:nvSpPr>
        <p:spPr>
          <a:xfrm>
            <a:off x="463023" y="1665170"/>
            <a:ext cx="11219078" cy="39702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El restaurante Corralejo </a:t>
            </a:r>
            <a:r>
              <a:rPr lang="es-MX" sz="1800" b="0" i="0" u="none" strike="noStrike" cap="none" dirty="0" err="1">
                <a:solidFill>
                  <a:schemeClr val="dk1"/>
                </a:solidFill>
                <a:latin typeface="Work Sans Light"/>
                <a:ea typeface="Work Sans Light"/>
                <a:cs typeface="Work Sans Light"/>
                <a:sym typeface="Work Sans Light"/>
              </a:rPr>
              <a:t>Fast</a:t>
            </a:r>
            <a:r>
              <a:rPr lang="es-MX" sz="1800" b="0" i="0" u="none" strike="noStrike" cap="none" dirty="0">
                <a:solidFill>
                  <a:schemeClr val="dk1"/>
                </a:solidFill>
                <a:latin typeface="Work Sans Light"/>
                <a:ea typeface="Work Sans Light"/>
                <a:cs typeface="Work Sans Light"/>
                <a:sym typeface="Work Sans Light"/>
              </a:rPr>
              <a:t> </a:t>
            </a:r>
            <a:r>
              <a:rPr lang="es-MX" sz="1800" b="0" i="0" u="none" strike="noStrike" cap="none" dirty="0" err="1">
                <a:solidFill>
                  <a:schemeClr val="dk1"/>
                </a:solidFill>
                <a:latin typeface="Work Sans Light"/>
                <a:ea typeface="Work Sans Light"/>
                <a:cs typeface="Work Sans Light"/>
                <a:sym typeface="Work Sans Light"/>
              </a:rPr>
              <a:t>Food</a:t>
            </a:r>
            <a:r>
              <a:rPr lang="es-MX" sz="1800" b="0" i="0" u="none" strike="noStrike" cap="none" dirty="0">
                <a:solidFill>
                  <a:schemeClr val="dk1"/>
                </a:solidFill>
                <a:latin typeface="Work Sans Light"/>
                <a:ea typeface="Work Sans Light"/>
                <a:cs typeface="Work Sans Light"/>
                <a:sym typeface="Work Sans Light"/>
              </a:rPr>
              <a:t> opera actualmente con procesos manuales y no estructurados para la gestión de pedidos, menú y ventas. Esta situación genera problemas de consistencia en los datos, baja eficiencia operativa y retrasos en la atención, evidenciando la necesidad de un sistema de información que permita la digitalización y estandarización de estos procesos.</a:t>
            </a:r>
          </a:p>
          <a:p>
            <a:pPr marL="0" marR="0" lvl="0" indent="0" algn="l" rtl="0">
              <a:lnSpc>
                <a:spcPct val="100000"/>
              </a:lnSpc>
              <a:spcBef>
                <a:spcPts val="0"/>
              </a:spcBef>
              <a:spcAft>
                <a:spcPts val="0"/>
              </a:spcAft>
              <a:buClr>
                <a:srgbClr val="000000"/>
              </a:buClr>
              <a:buSzPts val="1800"/>
              <a:buFont typeface="Arial"/>
              <a:buNone/>
            </a:pPr>
            <a:endParaRPr lang="es-MX" sz="1800" b="0" i="0" u="none" strike="noStrike" cap="none"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Además, no se dispone de una plataforma centralizada para el seguimiento de pedidos, tanto en consumo en sitio como en domicilios. Esto dificulta la trazabilidad de los pedidos, el monitoreo de su estado en tiempo real y la correcta orquestación del flujo de trabajo, lo que sugiere la necesidad de implementar un sistema con gestión de estados y control de procesos.</a:t>
            </a:r>
          </a:p>
          <a:p>
            <a:pPr marL="0" marR="0" lvl="0" indent="0" algn="l" rtl="0">
              <a:lnSpc>
                <a:spcPct val="100000"/>
              </a:lnSpc>
              <a:spcBef>
                <a:spcPts val="0"/>
              </a:spcBef>
              <a:spcAft>
                <a:spcPts val="0"/>
              </a:spcAft>
              <a:buClr>
                <a:srgbClr val="000000"/>
              </a:buClr>
              <a:buSzPts val="1800"/>
              <a:buFont typeface="Arial"/>
              <a:buNone/>
            </a:pPr>
            <a:endParaRPr lang="es-MX" sz="1800" b="0" i="0" u="none" strike="noStrike" cap="none"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Por otra parte, no existen mecanismos para el análisis de datos ni para la gestión estructurada de la retroalimentación del cliente (</a:t>
            </a:r>
            <a:r>
              <a:rPr lang="es-MX" sz="1800" b="0" i="0" u="none" strike="noStrike" cap="none" dirty="0" err="1">
                <a:solidFill>
                  <a:schemeClr val="dk1"/>
                </a:solidFill>
                <a:latin typeface="Work Sans Light"/>
                <a:ea typeface="Work Sans Light"/>
                <a:cs typeface="Work Sans Light"/>
                <a:sym typeface="Work Sans Light"/>
              </a:rPr>
              <a:t>PQRs</a:t>
            </a:r>
            <a:r>
              <a:rPr lang="es-MX" sz="1800" b="0" i="0" u="none" strike="noStrike" cap="none" dirty="0">
                <a:solidFill>
                  <a:schemeClr val="dk1"/>
                </a:solidFill>
                <a:latin typeface="Work Sans Light"/>
                <a:ea typeface="Work Sans Light"/>
                <a:cs typeface="Work Sans Light"/>
                <a:sym typeface="Work Sans Light"/>
              </a:rPr>
              <a:t>). Esta carencia limita la toma de decisiones basada en datos y el control operativo. Se identifica como requerimiento la incorporación de módulos de analítica y gestión de clientes que permitan mejorar la supervisión, control y mejora continua del negocio.</a:t>
            </a:r>
          </a:p>
        </p:txBody>
      </p:sp>
      <p:pic>
        <p:nvPicPr>
          <p:cNvPr id="14" name="Imagen 13">
            <a:extLst>
              <a:ext uri="{FF2B5EF4-FFF2-40B4-BE49-F238E27FC236}">
                <a16:creationId xmlns:a16="http://schemas.microsoft.com/office/drawing/2014/main" id="{11636846-D96C-7616-DEC5-D5032B1364AD}"/>
              </a:ext>
            </a:extLst>
          </p:cNvPr>
          <p:cNvPicPr>
            <a:picLocks noChangeAspect="1"/>
          </p:cNvPicPr>
          <p:nvPr/>
        </p:nvPicPr>
        <p:blipFill>
          <a:blip r:embed="rId3"/>
          <a:stretch>
            <a:fillRect/>
          </a:stretch>
        </p:blipFill>
        <p:spPr>
          <a:xfrm>
            <a:off x="11246199" y="5907214"/>
            <a:ext cx="871804" cy="871804"/>
          </a:xfrm>
          <a:prstGeom prst="rect">
            <a:avLst/>
          </a:prstGeom>
        </p:spPr>
      </p:pic>
    </p:spTree>
    <p:extLst>
      <p:ext uri="{BB962C8B-B14F-4D97-AF65-F5344CB8AC3E}">
        <p14:creationId xmlns:p14="http://schemas.microsoft.com/office/powerpoint/2010/main" val="1971142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AA004F1-5436-4A3A-B3EC-F1B58902B552}"/>
            </a:ext>
          </a:extLst>
        </p:cNvPr>
        <p:cNvGrpSpPr/>
        <p:nvPr/>
      </p:nvGrpSpPr>
      <p:grpSpPr>
        <a:xfrm>
          <a:off x="0" y="0"/>
          <a:ext cx="0" cy="0"/>
          <a:chOff x="0" y="0"/>
          <a:chExt cx="0" cy="0"/>
        </a:xfrm>
      </p:grpSpPr>
      <p:sp>
        <p:nvSpPr>
          <p:cNvPr id="4" name="Google Shape;106;p3">
            <a:extLst>
              <a:ext uri="{FF2B5EF4-FFF2-40B4-BE49-F238E27FC236}">
                <a16:creationId xmlns:a16="http://schemas.microsoft.com/office/drawing/2014/main" id="{B7218DB8-9413-374C-1427-3786FAC5F41D}"/>
              </a:ext>
            </a:extLst>
          </p:cNvPr>
          <p:cNvSpPr txBox="1"/>
          <p:nvPr/>
        </p:nvSpPr>
        <p:spPr>
          <a:xfrm>
            <a:off x="589661" y="863707"/>
            <a:ext cx="3144852"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a:buNone/>
            </a:pPr>
            <a:r>
              <a:rPr lang="es-MX" sz="3600" b="1" i="0" u="none" strike="noStrike" cap="none" dirty="0">
                <a:solidFill>
                  <a:srgbClr val="38AA00"/>
                </a:solidFill>
                <a:latin typeface="Work Sans"/>
                <a:ea typeface="Work Sans"/>
                <a:cs typeface="Work Sans"/>
                <a:sym typeface="Work Sans"/>
              </a:rPr>
              <a:t>Justificación</a:t>
            </a:r>
            <a:endParaRPr sz="1400" b="0" i="0" u="none" strike="noStrike" cap="none" dirty="0">
              <a:solidFill>
                <a:srgbClr val="000000"/>
              </a:solidFill>
              <a:latin typeface="Arial"/>
              <a:ea typeface="Arial"/>
              <a:cs typeface="Arial"/>
              <a:sym typeface="Arial"/>
            </a:endParaRPr>
          </a:p>
        </p:txBody>
      </p:sp>
      <p:cxnSp>
        <p:nvCxnSpPr>
          <p:cNvPr id="5" name="Google Shape;109;p3">
            <a:extLst>
              <a:ext uri="{FF2B5EF4-FFF2-40B4-BE49-F238E27FC236}">
                <a16:creationId xmlns:a16="http://schemas.microsoft.com/office/drawing/2014/main" id="{FB8EE317-8D78-1EC9-6B1E-C360C0D3DF90}"/>
              </a:ext>
            </a:extLst>
          </p:cNvPr>
          <p:cNvCxnSpPr>
            <a:cxnSpLocks/>
          </p:cNvCxnSpPr>
          <p:nvPr/>
        </p:nvCxnSpPr>
        <p:spPr>
          <a:xfrm>
            <a:off x="726393" y="1490999"/>
            <a:ext cx="3008119" cy="0"/>
          </a:xfrm>
          <a:prstGeom prst="straightConnector1">
            <a:avLst/>
          </a:prstGeom>
          <a:noFill/>
          <a:ln w="12700" cap="flat" cmpd="sng">
            <a:solidFill>
              <a:srgbClr val="4D4D4C"/>
            </a:solidFill>
            <a:prstDash val="solid"/>
            <a:miter lim="800000"/>
            <a:headEnd type="none" w="sm" len="sm"/>
            <a:tailEnd type="none" w="sm" len="sm"/>
          </a:ln>
        </p:spPr>
      </p:cxnSp>
      <p:sp>
        <p:nvSpPr>
          <p:cNvPr id="13" name="Google Shape;107;p3">
            <a:extLst>
              <a:ext uri="{FF2B5EF4-FFF2-40B4-BE49-F238E27FC236}">
                <a16:creationId xmlns:a16="http://schemas.microsoft.com/office/drawing/2014/main" id="{44810368-1AE8-5A2A-D279-B15C6B31E7AB}"/>
              </a:ext>
            </a:extLst>
          </p:cNvPr>
          <p:cNvSpPr txBox="1"/>
          <p:nvPr/>
        </p:nvSpPr>
        <p:spPr>
          <a:xfrm>
            <a:off x="463023" y="1665170"/>
            <a:ext cx="11219078" cy="424727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El restaurante enfrenta problemas derivados de la gestión manual y no estructurada de procesos críticos como pedidos, menú y ventas. Esto genera inconsistencias en los datos, baja trazabilidad y dificultades en el control operativo, evidenciando la necesidad de un sistema que formalice y digitalice estos procesos.</a:t>
            </a:r>
          </a:p>
          <a:p>
            <a:pPr marL="0" marR="0" lvl="0" indent="0" algn="l" rtl="0">
              <a:lnSpc>
                <a:spcPct val="100000"/>
              </a:lnSpc>
              <a:spcBef>
                <a:spcPts val="0"/>
              </a:spcBef>
              <a:spcAft>
                <a:spcPts val="0"/>
              </a:spcAft>
              <a:buClr>
                <a:srgbClr val="000000"/>
              </a:buClr>
              <a:buSzPts val="1800"/>
              <a:buFont typeface="Arial"/>
              <a:buNone/>
            </a:pPr>
            <a:endParaRPr lang="es-MX" sz="1800" b="0" i="0" u="none" strike="noStrike" cap="none"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Como solución, se plantea el desarrollo</a:t>
            </a:r>
            <a:r>
              <a:rPr lang="es-MX" dirty="0">
                <a:solidFill>
                  <a:schemeClr val="dk1"/>
                </a:solidFill>
                <a:latin typeface="Work Sans Light"/>
                <a:ea typeface="Work Sans Light"/>
                <a:cs typeface="Work Sans Light"/>
                <a:sym typeface="Work Sans Light"/>
              </a:rPr>
              <a:t>/</a:t>
            </a:r>
            <a:r>
              <a:rPr lang="es-MX" sz="1800" b="0" i="0" u="none" strike="noStrike" cap="none" dirty="0">
                <a:solidFill>
                  <a:schemeClr val="dk1"/>
                </a:solidFill>
                <a:latin typeface="Work Sans Light"/>
                <a:ea typeface="Work Sans Light"/>
                <a:cs typeface="Work Sans Light"/>
                <a:sym typeface="Work Sans Light"/>
              </a:rPr>
              <a:t>implementación de un sistema de información integral que centralice los módulos clave del negocio: administración de roles, gestión de menú, administración de pedidos, registro de ventas, gestión de PQRS e indicadores de negocio. Este sistema garantizara la integridad de datos, trazabilidad de operaciones y una interfaz que facilite la interacción de los usuarios.</a:t>
            </a:r>
          </a:p>
          <a:p>
            <a:pPr marL="0" marR="0" lvl="0" indent="0" algn="l" rtl="0">
              <a:lnSpc>
                <a:spcPct val="100000"/>
              </a:lnSpc>
              <a:spcBef>
                <a:spcPts val="0"/>
              </a:spcBef>
              <a:spcAft>
                <a:spcPts val="0"/>
              </a:spcAft>
              <a:buClr>
                <a:srgbClr val="000000"/>
              </a:buClr>
              <a:buSzPts val="1800"/>
              <a:buFont typeface="Arial"/>
              <a:buNone/>
            </a:pPr>
            <a:endParaRPr lang="es-MX" sz="1800" b="0" i="0" u="none" strike="noStrike" cap="none"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La adopción de esta solución permitirá optimizar el flujo operativo, habilitar capacidades de monitoreo y control en tiempo real, y soportar la toma de decisiones basada en datos. En consecuencia, el sistema funcionará como un soporte estratégico para mejorar la eficiencia operativa y la experiencia del cliente.</a:t>
            </a:r>
          </a:p>
        </p:txBody>
      </p:sp>
      <p:pic>
        <p:nvPicPr>
          <p:cNvPr id="3" name="Imagen 2">
            <a:extLst>
              <a:ext uri="{FF2B5EF4-FFF2-40B4-BE49-F238E27FC236}">
                <a16:creationId xmlns:a16="http://schemas.microsoft.com/office/drawing/2014/main" id="{EF1B3B40-C40C-E035-E138-A2D56B390F55}"/>
              </a:ext>
            </a:extLst>
          </p:cNvPr>
          <p:cNvPicPr>
            <a:picLocks noChangeAspect="1"/>
          </p:cNvPicPr>
          <p:nvPr/>
        </p:nvPicPr>
        <p:blipFill>
          <a:blip r:embed="rId3"/>
          <a:stretch>
            <a:fillRect/>
          </a:stretch>
        </p:blipFill>
        <p:spPr>
          <a:xfrm>
            <a:off x="11246199" y="5912446"/>
            <a:ext cx="871804" cy="871804"/>
          </a:xfrm>
          <a:prstGeom prst="rect">
            <a:avLst/>
          </a:prstGeom>
        </p:spPr>
      </p:pic>
    </p:spTree>
    <p:extLst>
      <p:ext uri="{BB962C8B-B14F-4D97-AF65-F5344CB8AC3E}">
        <p14:creationId xmlns:p14="http://schemas.microsoft.com/office/powerpoint/2010/main" val="1185532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BB7AD5F-4D7A-2C07-5336-8A4A8D570E86}"/>
            </a:ext>
          </a:extLst>
        </p:cNvPr>
        <p:cNvGrpSpPr/>
        <p:nvPr/>
      </p:nvGrpSpPr>
      <p:grpSpPr>
        <a:xfrm>
          <a:off x="0" y="0"/>
          <a:ext cx="0" cy="0"/>
          <a:chOff x="0" y="0"/>
          <a:chExt cx="0" cy="0"/>
        </a:xfrm>
      </p:grpSpPr>
      <p:sp>
        <p:nvSpPr>
          <p:cNvPr id="4" name="Google Shape;106;p3">
            <a:extLst>
              <a:ext uri="{FF2B5EF4-FFF2-40B4-BE49-F238E27FC236}">
                <a16:creationId xmlns:a16="http://schemas.microsoft.com/office/drawing/2014/main" id="{B4EABFD8-6D78-C791-0C9E-83C1B76FE02A}"/>
              </a:ext>
            </a:extLst>
          </p:cNvPr>
          <p:cNvSpPr txBox="1"/>
          <p:nvPr/>
        </p:nvSpPr>
        <p:spPr>
          <a:xfrm>
            <a:off x="933600" y="2444679"/>
            <a:ext cx="4102721"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a:buNone/>
            </a:pPr>
            <a:r>
              <a:rPr lang="es-MX" sz="3600" b="1" i="0" u="none" strike="noStrike" cap="none" dirty="0">
                <a:solidFill>
                  <a:srgbClr val="38AA00"/>
                </a:solidFill>
                <a:latin typeface="Work Sans"/>
                <a:ea typeface="Work Sans"/>
                <a:cs typeface="Work Sans"/>
                <a:sym typeface="Work Sans"/>
              </a:rPr>
              <a:t>Objetivo General</a:t>
            </a:r>
            <a:endParaRPr sz="1400" b="0" i="0" u="none" strike="noStrike" cap="none" dirty="0">
              <a:solidFill>
                <a:srgbClr val="000000"/>
              </a:solidFill>
              <a:latin typeface="Arial"/>
              <a:ea typeface="Arial"/>
              <a:cs typeface="Arial"/>
              <a:sym typeface="Arial"/>
            </a:endParaRPr>
          </a:p>
        </p:txBody>
      </p:sp>
      <p:cxnSp>
        <p:nvCxnSpPr>
          <p:cNvPr id="5" name="Google Shape;109;p3">
            <a:extLst>
              <a:ext uri="{FF2B5EF4-FFF2-40B4-BE49-F238E27FC236}">
                <a16:creationId xmlns:a16="http://schemas.microsoft.com/office/drawing/2014/main" id="{20EA2DA7-EA32-ABA3-F393-6084AEA91101}"/>
              </a:ext>
            </a:extLst>
          </p:cNvPr>
          <p:cNvCxnSpPr>
            <a:cxnSpLocks/>
          </p:cNvCxnSpPr>
          <p:nvPr/>
        </p:nvCxnSpPr>
        <p:spPr>
          <a:xfrm>
            <a:off x="1070333" y="3071971"/>
            <a:ext cx="3649054" cy="0"/>
          </a:xfrm>
          <a:prstGeom prst="straightConnector1">
            <a:avLst/>
          </a:prstGeom>
          <a:noFill/>
          <a:ln w="12700" cap="flat" cmpd="sng">
            <a:solidFill>
              <a:srgbClr val="4D4D4C"/>
            </a:solidFill>
            <a:prstDash val="solid"/>
            <a:miter lim="800000"/>
            <a:headEnd type="none" w="sm" len="sm"/>
            <a:tailEnd type="none" w="sm" len="sm"/>
          </a:ln>
        </p:spPr>
      </p:cxnSp>
      <p:sp>
        <p:nvSpPr>
          <p:cNvPr id="13" name="Google Shape;107;p3">
            <a:extLst>
              <a:ext uri="{FF2B5EF4-FFF2-40B4-BE49-F238E27FC236}">
                <a16:creationId xmlns:a16="http://schemas.microsoft.com/office/drawing/2014/main" id="{6CD815BE-5859-1ECE-8691-8E164BB4FEDC}"/>
              </a:ext>
            </a:extLst>
          </p:cNvPr>
          <p:cNvSpPr txBox="1"/>
          <p:nvPr/>
        </p:nvSpPr>
        <p:spPr>
          <a:xfrm>
            <a:off x="806964" y="3246142"/>
            <a:ext cx="5289036" cy="147728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Desarrollar un sistema de información que permita gestionar la administración del menú, la organización de los pedidos, el registro de las ventas, la visualización de indicadores de negocio, la gestión de PQRS.</a:t>
            </a:r>
          </a:p>
        </p:txBody>
      </p:sp>
      <p:pic>
        <p:nvPicPr>
          <p:cNvPr id="2" name="Imagen 1">
            <a:extLst>
              <a:ext uri="{FF2B5EF4-FFF2-40B4-BE49-F238E27FC236}">
                <a16:creationId xmlns:a16="http://schemas.microsoft.com/office/drawing/2014/main" id="{7A22D11B-CAB0-9882-ADE7-29450B663569}"/>
              </a:ext>
            </a:extLst>
          </p:cNvPr>
          <p:cNvPicPr>
            <a:picLocks noChangeAspect="1"/>
          </p:cNvPicPr>
          <p:nvPr/>
        </p:nvPicPr>
        <p:blipFill>
          <a:blip r:embed="rId3"/>
          <a:stretch>
            <a:fillRect/>
          </a:stretch>
        </p:blipFill>
        <p:spPr>
          <a:xfrm>
            <a:off x="6973368" y="1948442"/>
            <a:ext cx="3705216" cy="3705216"/>
          </a:xfrm>
          <a:prstGeom prst="rect">
            <a:avLst/>
          </a:prstGeom>
        </p:spPr>
      </p:pic>
      <p:pic>
        <p:nvPicPr>
          <p:cNvPr id="7" name="Imagen 6">
            <a:extLst>
              <a:ext uri="{FF2B5EF4-FFF2-40B4-BE49-F238E27FC236}">
                <a16:creationId xmlns:a16="http://schemas.microsoft.com/office/drawing/2014/main" id="{1DB3453B-9740-10A2-EA07-0316FA1D4794}"/>
              </a:ext>
            </a:extLst>
          </p:cNvPr>
          <p:cNvPicPr>
            <a:picLocks noChangeAspect="1"/>
          </p:cNvPicPr>
          <p:nvPr/>
        </p:nvPicPr>
        <p:blipFill>
          <a:blip r:embed="rId4"/>
          <a:stretch>
            <a:fillRect/>
          </a:stretch>
        </p:blipFill>
        <p:spPr>
          <a:xfrm>
            <a:off x="11231339" y="5858846"/>
            <a:ext cx="871804" cy="871804"/>
          </a:xfrm>
          <a:prstGeom prst="rect">
            <a:avLst/>
          </a:prstGeom>
        </p:spPr>
      </p:pic>
    </p:spTree>
    <p:extLst>
      <p:ext uri="{BB962C8B-B14F-4D97-AF65-F5344CB8AC3E}">
        <p14:creationId xmlns:p14="http://schemas.microsoft.com/office/powerpoint/2010/main" val="2362383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FC5BFB5-1E1B-DD97-0C45-5AC753789D6A}"/>
            </a:ext>
          </a:extLst>
        </p:cNvPr>
        <p:cNvGrpSpPr/>
        <p:nvPr/>
      </p:nvGrpSpPr>
      <p:grpSpPr>
        <a:xfrm>
          <a:off x="0" y="0"/>
          <a:ext cx="0" cy="0"/>
          <a:chOff x="0" y="0"/>
          <a:chExt cx="0" cy="0"/>
        </a:xfrm>
      </p:grpSpPr>
      <p:sp>
        <p:nvSpPr>
          <p:cNvPr id="4" name="Google Shape;106;p3">
            <a:extLst>
              <a:ext uri="{FF2B5EF4-FFF2-40B4-BE49-F238E27FC236}">
                <a16:creationId xmlns:a16="http://schemas.microsoft.com/office/drawing/2014/main" id="{D57F32BB-0770-A2E7-67E8-72D35FF33DB7}"/>
              </a:ext>
            </a:extLst>
          </p:cNvPr>
          <p:cNvSpPr txBox="1"/>
          <p:nvPr/>
        </p:nvSpPr>
        <p:spPr>
          <a:xfrm>
            <a:off x="309758" y="606313"/>
            <a:ext cx="5057002"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a:buNone/>
            </a:pPr>
            <a:r>
              <a:rPr lang="es-MX" sz="3600" b="1" i="0" u="none" strike="noStrike" cap="none" dirty="0">
                <a:solidFill>
                  <a:srgbClr val="38AA00"/>
                </a:solidFill>
                <a:latin typeface="Work Sans"/>
                <a:ea typeface="Work Sans"/>
                <a:cs typeface="Work Sans"/>
                <a:sym typeface="Work Sans"/>
              </a:rPr>
              <a:t>Objetivos Específicos</a:t>
            </a:r>
          </a:p>
        </p:txBody>
      </p:sp>
      <p:cxnSp>
        <p:nvCxnSpPr>
          <p:cNvPr id="5" name="Google Shape;109;p3">
            <a:extLst>
              <a:ext uri="{FF2B5EF4-FFF2-40B4-BE49-F238E27FC236}">
                <a16:creationId xmlns:a16="http://schemas.microsoft.com/office/drawing/2014/main" id="{920D72B4-1BE5-87F1-2C3B-4FEDDB7162F5}"/>
              </a:ext>
            </a:extLst>
          </p:cNvPr>
          <p:cNvCxnSpPr>
            <a:cxnSpLocks/>
          </p:cNvCxnSpPr>
          <p:nvPr/>
        </p:nvCxnSpPr>
        <p:spPr>
          <a:xfrm>
            <a:off x="446491" y="1233605"/>
            <a:ext cx="4792082" cy="0"/>
          </a:xfrm>
          <a:prstGeom prst="straightConnector1">
            <a:avLst/>
          </a:prstGeom>
          <a:noFill/>
          <a:ln w="12700" cap="flat" cmpd="sng">
            <a:solidFill>
              <a:srgbClr val="4D4D4C"/>
            </a:solidFill>
            <a:prstDash val="solid"/>
            <a:miter lim="800000"/>
            <a:headEnd type="none" w="sm" len="sm"/>
            <a:tailEnd type="none" w="sm" len="sm"/>
          </a:ln>
        </p:spPr>
      </p:cxnSp>
      <p:pic>
        <p:nvPicPr>
          <p:cNvPr id="7" name="Imagen 6">
            <a:extLst>
              <a:ext uri="{FF2B5EF4-FFF2-40B4-BE49-F238E27FC236}">
                <a16:creationId xmlns:a16="http://schemas.microsoft.com/office/drawing/2014/main" id="{9A3A6D31-4DC0-46D0-C6A7-30382FB059DD}"/>
              </a:ext>
            </a:extLst>
          </p:cNvPr>
          <p:cNvPicPr>
            <a:picLocks noChangeAspect="1"/>
          </p:cNvPicPr>
          <p:nvPr/>
        </p:nvPicPr>
        <p:blipFill>
          <a:blip r:embed="rId3"/>
          <a:stretch>
            <a:fillRect/>
          </a:stretch>
        </p:blipFill>
        <p:spPr>
          <a:xfrm>
            <a:off x="11231339" y="5858846"/>
            <a:ext cx="871804" cy="871804"/>
          </a:xfrm>
          <a:prstGeom prst="rect">
            <a:avLst/>
          </a:prstGeom>
        </p:spPr>
      </p:pic>
    </p:spTree>
    <p:extLst>
      <p:ext uri="{BB962C8B-B14F-4D97-AF65-F5344CB8AC3E}">
        <p14:creationId xmlns:p14="http://schemas.microsoft.com/office/powerpoint/2010/main" val="2332328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31C38C6-87ED-A151-9CAD-6C16052B2F07}"/>
            </a:ext>
          </a:extLst>
        </p:cNvPr>
        <p:cNvGrpSpPr/>
        <p:nvPr/>
      </p:nvGrpSpPr>
      <p:grpSpPr>
        <a:xfrm>
          <a:off x="0" y="0"/>
          <a:ext cx="0" cy="0"/>
          <a:chOff x="0" y="0"/>
          <a:chExt cx="0" cy="0"/>
        </a:xfrm>
      </p:grpSpPr>
      <p:sp>
        <p:nvSpPr>
          <p:cNvPr id="4" name="Google Shape;106;p3">
            <a:extLst>
              <a:ext uri="{FF2B5EF4-FFF2-40B4-BE49-F238E27FC236}">
                <a16:creationId xmlns:a16="http://schemas.microsoft.com/office/drawing/2014/main" id="{C12631CA-2BDA-C20D-E1E3-3B95BD419F89}"/>
              </a:ext>
            </a:extLst>
          </p:cNvPr>
          <p:cNvSpPr txBox="1"/>
          <p:nvPr/>
        </p:nvSpPr>
        <p:spPr>
          <a:xfrm>
            <a:off x="1008405" y="1325180"/>
            <a:ext cx="2068082"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a:buNone/>
            </a:pPr>
            <a:r>
              <a:rPr lang="es-MX" sz="3600" b="1" i="0" u="none" strike="noStrike" cap="none" dirty="0">
                <a:solidFill>
                  <a:srgbClr val="38AA00"/>
                </a:solidFill>
                <a:latin typeface="Work Sans"/>
                <a:ea typeface="Work Sans"/>
                <a:cs typeface="Work Sans"/>
                <a:sym typeface="Work Sans"/>
              </a:rPr>
              <a:t>Alcance</a:t>
            </a:r>
            <a:endParaRPr sz="1400" b="0" i="0" u="none" strike="noStrike" cap="none" dirty="0">
              <a:solidFill>
                <a:srgbClr val="000000"/>
              </a:solidFill>
              <a:latin typeface="Arial"/>
              <a:ea typeface="Arial"/>
              <a:cs typeface="Arial"/>
              <a:sym typeface="Arial"/>
            </a:endParaRPr>
          </a:p>
        </p:txBody>
      </p:sp>
      <p:cxnSp>
        <p:nvCxnSpPr>
          <p:cNvPr id="5" name="Google Shape;109;p3">
            <a:extLst>
              <a:ext uri="{FF2B5EF4-FFF2-40B4-BE49-F238E27FC236}">
                <a16:creationId xmlns:a16="http://schemas.microsoft.com/office/drawing/2014/main" id="{4B7D05B8-C762-6480-9A1B-CA70F2297278}"/>
              </a:ext>
            </a:extLst>
          </p:cNvPr>
          <p:cNvCxnSpPr>
            <a:cxnSpLocks/>
          </p:cNvCxnSpPr>
          <p:nvPr/>
        </p:nvCxnSpPr>
        <p:spPr>
          <a:xfrm>
            <a:off x="1145137" y="1952472"/>
            <a:ext cx="1657884" cy="0"/>
          </a:xfrm>
          <a:prstGeom prst="straightConnector1">
            <a:avLst/>
          </a:prstGeom>
          <a:noFill/>
          <a:ln w="12700" cap="flat" cmpd="sng">
            <a:solidFill>
              <a:srgbClr val="4D4D4C"/>
            </a:solidFill>
            <a:prstDash val="solid"/>
            <a:miter lim="800000"/>
            <a:headEnd type="none" w="sm" len="sm"/>
            <a:tailEnd type="none" w="sm" len="sm"/>
          </a:ln>
        </p:spPr>
      </p:cxnSp>
      <p:sp>
        <p:nvSpPr>
          <p:cNvPr id="13" name="Google Shape;107;p3">
            <a:extLst>
              <a:ext uri="{FF2B5EF4-FFF2-40B4-BE49-F238E27FC236}">
                <a16:creationId xmlns:a16="http://schemas.microsoft.com/office/drawing/2014/main" id="{380D4512-83DC-9E63-75CE-16DED034A308}"/>
              </a:ext>
            </a:extLst>
          </p:cNvPr>
          <p:cNvSpPr txBox="1"/>
          <p:nvPr/>
        </p:nvSpPr>
        <p:spPr>
          <a:xfrm>
            <a:off x="881767" y="2126643"/>
            <a:ext cx="6450525" cy="341627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El presente proyecto corresponde al desarrollo de un sistema de información web orientado a la gestión operativa del restaurante Corralejo </a:t>
            </a:r>
            <a:r>
              <a:rPr lang="es-MX" sz="1800" b="0" i="0" u="none" strike="noStrike" cap="none" dirty="0" err="1">
                <a:solidFill>
                  <a:schemeClr val="dk1"/>
                </a:solidFill>
                <a:latin typeface="Work Sans Light"/>
                <a:ea typeface="Work Sans Light"/>
                <a:cs typeface="Work Sans Light"/>
                <a:sym typeface="Work Sans Light"/>
              </a:rPr>
              <a:t>Fast</a:t>
            </a:r>
            <a:r>
              <a:rPr lang="es-MX" sz="1800" b="0" i="0" u="none" strike="noStrike" cap="none" dirty="0">
                <a:solidFill>
                  <a:schemeClr val="dk1"/>
                </a:solidFill>
                <a:latin typeface="Work Sans Light"/>
                <a:ea typeface="Work Sans Light"/>
                <a:cs typeface="Work Sans Light"/>
                <a:sym typeface="Work Sans Light"/>
              </a:rPr>
              <a:t> </a:t>
            </a:r>
            <a:r>
              <a:rPr lang="es-MX" sz="1800" b="0" i="0" u="none" strike="noStrike" cap="none" dirty="0" err="1">
                <a:solidFill>
                  <a:schemeClr val="dk1"/>
                </a:solidFill>
                <a:latin typeface="Work Sans Light"/>
                <a:ea typeface="Work Sans Light"/>
                <a:cs typeface="Work Sans Light"/>
                <a:sym typeface="Work Sans Light"/>
              </a:rPr>
              <a:t>Food</a:t>
            </a:r>
            <a:r>
              <a:rPr lang="es-MX" sz="1800" b="0" i="0" u="none" strike="noStrike" cap="none" dirty="0">
                <a:solidFill>
                  <a:schemeClr val="dk1"/>
                </a:solidFill>
                <a:latin typeface="Work Sans Light"/>
                <a:ea typeface="Work Sans Light"/>
                <a:cs typeface="Work Sans Light"/>
                <a:sym typeface="Work Sans Light"/>
              </a:rPr>
              <a:t>. Su alcance se centra en la optimización de procesos internos mediante la centralización de información relacionada con productos, pedidos, ventas, usuarios, PQRS e indicadores de negocio.</a:t>
            </a:r>
          </a:p>
          <a:p>
            <a:pPr marL="0" marR="0" lvl="0" indent="0" algn="l" rtl="0">
              <a:lnSpc>
                <a:spcPct val="100000"/>
              </a:lnSpc>
              <a:spcBef>
                <a:spcPts val="0"/>
              </a:spcBef>
              <a:spcAft>
                <a:spcPts val="0"/>
              </a:spcAft>
              <a:buClr>
                <a:srgbClr val="000000"/>
              </a:buClr>
              <a:buSzPts val="1800"/>
              <a:buFont typeface="Arial"/>
              <a:buNone/>
            </a:pPr>
            <a:endParaRPr lang="es-MX" sz="1800" b="0" i="0" u="none" strike="noStrike" cap="none"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Work Sans Light"/>
                <a:ea typeface="Work Sans Light"/>
                <a:cs typeface="Work Sans Light"/>
                <a:sym typeface="Work Sans Light"/>
              </a:rPr>
              <a:t>El sistema estará diseñado exclusivamente para la gestión interna del establecimiento, por lo que su funcionalidad se limita a la administración operativa y no contempla procesos contables o financieros avanzados.</a:t>
            </a:r>
          </a:p>
        </p:txBody>
      </p:sp>
      <p:pic>
        <p:nvPicPr>
          <p:cNvPr id="3" name="Imagen 2">
            <a:extLst>
              <a:ext uri="{FF2B5EF4-FFF2-40B4-BE49-F238E27FC236}">
                <a16:creationId xmlns:a16="http://schemas.microsoft.com/office/drawing/2014/main" id="{C898DA94-1125-719F-ABC3-33FD1AC28B8B}"/>
              </a:ext>
            </a:extLst>
          </p:cNvPr>
          <p:cNvPicPr>
            <a:picLocks noChangeAspect="1"/>
          </p:cNvPicPr>
          <p:nvPr/>
        </p:nvPicPr>
        <p:blipFill>
          <a:blip r:embed="rId3"/>
          <a:stretch>
            <a:fillRect/>
          </a:stretch>
        </p:blipFill>
        <p:spPr>
          <a:xfrm>
            <a:off x="11246199" y="5912446"/>
            <a:ext cx="871804" cy="871804"/>
          </a:xfrm>
          <a:prstGeom prst="rect">
            <a:avLst/>
          </a:prstGeom>
        </p:spPr>
      </p:pic>
      <p:pic>
        <p:nvPicPr>
          <p:cNvPr id="6" name="Imagen 5">
            <a:extLst>
              <a:ext uri="{FF2B5EF4-FFF2-40B4-BE49-F238E27FC236}">
                <a16:creationId xmlns:a16="http://schemas.microsoft.com/office/drawing/2014/main" id="{3615275A-3EEB-1D30-38A4-1B588F857494}"/>
              </a:ext>
            </a:extLst>
          </p:cNvPr>
          <p:cNvPicPr>
            <a:picLocks noChangeAspect="1"/>
          </p:cNvPicPr>
          <p:nvPr/>
        </p:nvPicPr>
        <p:blipFill>
          <a:blip r:embed="rId4"/>
          <a:stretch>
            <a:fillRect/>
          </a:stretch>
        </p:blipFill>
        <p:spPr>
          <a:xfrm>
            <a:off x="7905527" y="2719832"/>
            <a:ext cx="2619375" cy="1743075"/>
          </a:xfrm>
          <a:prstGeom prst="rect">
            <a:avLst/>
          </a:prstGeom>
        </p:spPr>
      </p:pic>
    </p:spTree>
    <p:extLst>
      <p:ext uri="{BB962C8B-B14F-4D97-AF65-F5344CB8AC3E}">
        <p14:creationId xmlns:p14="http://schemas.microsoft.com/office/powerpoint/2010/main" val="14315474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9">
          <a:extLst>
            <a:ext uri="{FF2B5EF4-FFF2-40B4-BE49-F238E27FC236}">
              <a16:creationId xmlns:a16="http://schemas.microsoft.com/office/drawing/2014/main" id="{5F12733E-7DDD-53A6-5837-B47158F8BEB0}"/>
            </a:ext>
          </a:extLst>
        </p:cNvPr>
        <p:cNvGrpSpPr/>
        <p:nvPr/>
      </p:nvGrpSpPr>
      <p:grpSpPr>
        <a:xfrm>
          <a:off x="0" y="0"/>
          <a:ext cx="0" cy="0"/>
          <a:chOff x="0" y="0"/>
          <a:chExt cx="0" cy="0"/>
        </a:xfrm>
      </p:grpSpPr>
      <p:sp>
        <p:nvSpPr>
          <p:cNvPr id="100" name="Google Shape;100;p2">
            <a:extLst>
              <a:ext uri="{FF2B5EF4-FFF2-40B4-BE49-F238E27FC236}">
                <a16:creationId xmlns:a16="http://schemas.microsoft.com/office/drawing/2014/main" id="{FAB8D105-CE9E-867D-8311-1985BC507B75}"/>
              </a:ext>
            </a:extLst>
          </p:cNvPr>
          <p:cNvSpPr txBox="1"/>
          <p:nvPr/>
        </p:nvSpPr>
        <p:spPr>
          <a:xfrm>
            <a:off x="2361452" y="2623935"/>
            <a:ext cx="7469096" cy="3046948"/>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6000"/>
              <a:buFont typeface="Arial"/>
              <a:buNone/>
              <a:tabLst/>
              <a:defRPr/>
            </a:pPr>
            <a:r>
              <a:rPr kumimoji="0" lang="es-MX" sz="6000" b="1" i="0" u="none" strike="noStrike" kern="0" cap="none" spc="0" normalizeH="0" baseline="0" noProof="0" dirty="0">
                <a:ln>
                  <a:noFill/>
                </a:ln>
                <a:solidFill>
                  <a:schemeClr val="bg1"/>
                </a:solidFill>
                <a:effectLst/>
                <a:uLnTx/>
                <a:uFillTx/>
                <a:latin typeface="Work Sans" pitchFamily="2" charset="0"/>
                <a:ea typeface="Work Sans"/>
                <a:cs typeface="Work Sans"/>
                <a:sym typeface="Work Sans"/>
              </a:rPr>
              <a:t>DIAGRAMA DE PROCESO UML</a:t>
            </a:r>
            <a:endParaRPr kumimoji="0" sz="6000" b="0" i="0" u="none" strike="noStrike" kern="0" cap="none" spc="0" normalizeH="0" baseline="0" noProof="0" dirty="0">
              <a:ln>
                <a:noFill/>
              </a:ln>
              <a:solidFill>
                <a:schemeClr val="bg1"/>
              </a:solidFill>
              <a:effectLst/>
              <a:uLnTx/>
              <a:uFillTx/>
              <a:latin typeface="Work Sans" pitchFamily="2" charset="0"/>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Pts val="7200"/>
              <a:buFont typeface="Arial"/>
              <a:buNone/>
              <a:tabLst/>
              <a:defRPr/>
            </a:pPr>
            <a:endParaRPr kumimoji="0" sz="7200" b="1" i="0" u="none" strike="noStrike" kern="0" cap="none" spc="0" normalizeH="0" baseline="0" noProof="0" dirty="0">
              <a:ln>
                <a:noFill/>
              </a:ln>
              <a:solidFill>
                <a:srgbClr val="FFFFFF"/>
              </a:solidFill>
              <a:effectLst/>
              <a:uLnTx/>
              <a:uFillTx/>
              <a:latin typeface="Work Sans"/>
              <a:ea typeface="Work Sans"/>
              <a:cs typeface="Work Sans"/>
              <a:sym typeface="Work Sans"/>
            </a:endParaRPr>
          </a:p>
        </p:txBody>
      </p:sp>
      <p:cxnSp>
        <p:nvCxnSpPr>
          <p:cNvPr id="101" name="Google Shape;101;p2">
            <a:extLst>
              <a:ext uri="{FF2B5EF4-FFF2-40B4-BE49-F238E27FC236}">
                <a16:creationId xmlns:a16="http://schemas.microsoft.com/office/drawing/2014/main" id="{6CAB5114-E68F-53B8-8D8A-9742A8B35F2C}"/>
              </a:ext>
            </a:extLst>
          </p:cNvPr>
          <p:cNvCxnSpPr/>
          <p:nvPr/>
        </p:nvCxnSpPr>
        <p:spPr>
          <a:xfrm>
            <a:off x="3225245" y="3604548"/>
            <a:ext cx="5741509" cy="0"/>
          </a:xfrm>
          <a:prstGeom prst="straightConnector1">
            <a:avLst/>
          </a:prstGeom>
          <a:noFill/>
          <a:ln w="12700" cap="flat" cmpd="sng">
            <a:solidFill>
              <a:schemeClr val="lt1"/>
            </a:solidFill>
            <a:prstDash val="solid"/>
            <a:miter lim="800000"/>
            <a:headEnd type="none" w="sm" len="sm"/>
            <a:tailEnd type="none" w="sm" len="sm"/>
          </a:ln>
        </p:spPr>
      </p:cxnSp>
    </p:spTree>
    <p:extLst>
      <p:ext uri="{BB962C8B-B14F-4D97-AF65-F5344CB8AC3E}">
        <p14:creationId xmlns:p14="http://schemas.microsoft.com/office/powerpoint/2010/main" val="555549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9">
          <a:extLst>
            <a:ext uri="{FF2B5EF4-FFF2-40B4-BE49-F238E27FC236}">
              <a16:creationId xmlns:a16="http://schemas.microsoft.com/office/drawing/2014/main" id="{2F3A7F99-DB2D-3FFE-3888-709F152E0030}"/>
            </a:ext>
          </a:extLst>
        </p:cNvPr>
        <p:cNvGrpSpPr/>
        <p:nvPr/>
      </p:nvGrpSpPr>
      <p:grpSpPr>
        <a:xfrm>
          <a:off x="0" y="0"/>
          <a:ext cx="0" cy="0"/>
          <a:chOff x="0" y="0"/>
          <a:chExt cx="0" cy="0"/>
        </a:xfrm>
      </p:grpSpPr>
      <p:sp>
        <p:nvSpPr>
          <p:cNvPr id="100" name="Google Shape;100;p2">
            <a:extLst>
              <a:ext uri="{FF2B5EF4-FFF2-40B4-BE49-F238E27FC236}">
                <a16:creationId xmlns:a16="http://schemas.microsoft.com/office/drawing/2014/main" id="{E72A633B-BBC7-305F-DA38-516F540299C6}"/>
              </a:ext>
            </a:extLst>
          </p:cNvPr>
          <p:cNvSpPr txBox="1"/>
          <p:nvPr/>
        </p:nvSpPr>
        <p:spPr>
          <a:xfrm>
            <a:off x="2361452" y="2623935"/>
            <a:ext cx="7469096" cy="3046948"/>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6000"/>
              <a:buFont typeface="Arial"/>
              <a:buNone/>
              <a:tabLst/>
              <a:defRPr/>
            </a:pPr>
            <a:r>
              <a:rPr kumimoji="0" lang="es-MX" sz="6000" b="1" i="0" u="none" strike="noStrike" kern="0" cap="none" spc="0" normalizeH="0" baseline="0" noProof="0" dirty="0">
                <a:ln>
                  <a:noFill/>
                </a:ln>
                <a:solidFill>
                  <a:schemeClr val="bg1"/>
                </a:solidFill>
                <a:effectLst/>
                <a:uLnTx/>
                <a:uFillTx/>
                <a:latin typeface="Work Sans" pitchFamily="2" charset="0"/>
                <a:ea typeface="Work Sans"/>
                <a:cs typeface="Work Sans"/>
                <a:sym typeface="Work Sans"/>
              </a:rPr>
              <a:t>TÉCNICAS DE RECOLECCIÓN</a:t>
            </a:r>
            <a:endParaRPr kumimoji="0" sz="6000" b="0" i="0" u="none" strike="noStrike" kern="0" cap="none" spc="0" normalizeH="0" baseline="0" noProof="0" dirty="0">
              <a:ln>
                <a:noFill/>
              </a:ln>
              <a:solidFill>
                <a:schemeClr val="bg1"/>
              </a:solidFill>
              <a:effectLst/>
              <a:uLnTx/>
              <a:uFillTx/>
              <a:latin typeface="Work Sans" pitchFamily="2" charset="0"/>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Pts val="7200"/>
              <a:buFont typeface="Arial"/>
              <a:buNone/>
              <a:tabLst/>
              <a:defRPr/>
            </a:pPr>
            <a:endParaRPr kumimoji="0" sz="7200" b="1" i="0" u="none" strike="noStrike" kern="0" cap="none" spc="0" normalizeH="0" baseline="0" noProof="0" dirty="0">
              <a:ln>
                <a:noFill/>
              </a:ln>
              <a:solidFill>
                <a:srgbClr val="FFFFFF"/>
              </a:solidFill>
              <a:effectLst/>
              <a:uLnTx/>
              <a:uFillTx/>
              <a:latin typeface="Work Sans"/>
              <a:ea typeface="Work Sans"/>
              <a:cs typeface="Work Sans"/>
              <a:sym typeface="Work Sans"/>
            </a:endParaRPr>
          </a:p>
        </p:txBody>
      </p:sp>
      <p:cxnSp>
        <p:nvCxnSpPr>
          <p:cNvPr id="101" name="Google Shape;101;p2">
            <a:extLst>
              <a:ext uri="{FF2B5EF4-FFF2-40B4-BE49-F238E27FC236}">
                <a16:creationId xmlns:a16="http://schemas.microsoft.com/office/drawing/2014/main" id="{A055A26F-CC49-D8B4-74BF-A5EE1ECF3ACC}"/>
              </a:ext>
            </a:extLst>
          </p:cNvPr>
          <p:cNvCxnSpPr/>
          <p:nvPr/>
        </p:nvCxnSpPr>
        <p:spPr>
          <a:xfrm>
            <a:off x="3225245" y="3604548"/>
            <a:ext cx="5741509" cy="0"/>
          </a:xfrm>
          <a:prstGeom prst="straightConnector1">
            <a:avLst/>
          </a:prstGeom>
          <a:noFill/>
          <a:ln w="12700" cap="flat" cmpd="sng">
            <a:solidFill>
              <a:schemeClr val="lt1"/>
            </a:solidFill>
            <a:prstDash val="solid"/>
            <a:miter lim="800000"/>
            <a:headEnd type="none" w="sm" len="sm"/>
            <a:tailEnd type="none" w="sm" len="sm"/>
          </a:ln>
        </p:spPr>
      </p:cxnSp>
    </p:spTree>
    <p:extLst>
      <p:ext uri="{BB962C8B-B14F-4D97-AF65-F5344CB8AC3E}">
        <p14:creationId xmlns:p14="http://schemas.microsoft.com/office/powerpoint/2010/main" val="3931436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9">
          <a:extLst>
            <a:ext uri="{FF2B5EF4-FFF2-40B4-BE49-F238E27FC236}">
              <a16:creationId xmlns:a16="http://schemas.microsoft.com/office/drawing/2014/main" id="{E4902E22-E057-8B67-7C60-78CBDD02DB16}"/>
            </a:ext>
          </a:extLst>
        </p:cNvPr>
        <p:cNvGrpSpPr/>
        <p:nvPr/>
      </p:nvGrpSpPr>
      <p:grpSpPr>
        <a:xfrm>
          <a:off x="0" y="0"/>
          <a:ext cx="0" cy="0"/>
          <a:chOff x="0" y="0"/>
          <a:chExt cx="0" cy="0"/>
        </a:xfrm>
      </p:grpSpPr>
      <p:sp>
        <p:nvSpPr>
          <p:cNvPr id="100" name="Google Shape;100;p2">
            <a:extLst>
              <a:ext uri="{FF2B5EF4-FFF2-40B4-BE49-F238E27FC236}">
                <a16:creationId xmlns:a16="http://schemas.microsoft.com/office/drawing/2014/main" id="{A4C6B598-06AB-1A88-A2FA-23C953FD44B0}"/>
              </a:ext>
            </a:extLst>
          </p:cNvPr>
          <p:cNvSpPr txBox="1"/>
          <p:nvPr/>
        </p:nvSpPr>
        <p:spPr>
          <a:xfrm>
            <a:off x="2361452" y="2623935"/>
            <a:ext cx="7469096" cy="3046948"/>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6000"/>
              <a:buFont typeface="Arial"/>
              <a:buNone/>
              <a:tabLst/>
              <a:defRPr/>
            </a:pPr>
            <a:r>
              <a:rPr kumimoji="0" lang="es-MX" sz="6000" b="1" i="0" u="none" strike="noStrike" kern="0" cap="none" spc="0" normalizeH="0" baseline="0" noProof="0" dirty="0">
                <a:ln>
                  <a:noFill/>
                </a:ln>
                <a:solidFill>
                  <a:schemeClr val="bg1"/>
                </a:solidFill>
                <a:effectLst/>
                <a:uLnTx/>
                <a:uFillTx/>
                <a:latin typeface="Work Sans" pitchFamily="2" charset="0"/>
                <a:ea typeface="Work Sans"/>
                <a:cs typeface="Work Sans"/>
                <a:sym typeface="Work Sans"/>
              </a:rPr>
              <a:t>REQUISITOS </a:t>
            </a:r>
          </a:p>
          <a:p>
            <a:pPr marL="0" marR="0" lvl="0" indent="0" algn="ctr" defTabSz="914400" rtl="0" eaLnBrk="1" fontAlgn="auto" latinLnBrk="0" hangingPunct="1">
              <a:lnSpc>
                <a:spcPct val="100000"/>
              </a:lnSpc>
              <a:spcBef>
                <a:spcPts val="0"/>
              </a:spcBef>
              <a:spcAft>
                <a:spcPts val="0"/>
              </a:spcAft>
              <a:buClr>
                <a:srgbClr val="000000"/>
              </a:buClr>
              <a:buSzPts val="6000"/>
              <a:buFont typeface="Arial"/>
              <a:buNone/>
              <a:tabLst/>
              <a:defRPr/>
            </a:pPr>
            <a:r>
              <a:rPr kumimoji="0" lang="es-MX" sz="6000" b="1" i="0" u="none" strike="noStrike" kern="0" cap="none" spc="0" normalizeH="0" baseline="0" noProof="0" dirty="0">
                <a:ln>
                  <a:noFill/>
                </a:ln>
                <a:solidFill>
                  <a:schemeClr val="bg1"/>
                </a:solidFill>
                <a:effectLst/>
                <a:uLnTx/>
                <a:uFillTx/>
                <a:latin typeface="Work Sans" pitchFamily="2" charset="0"/>
                <a:ea typeface="Work Sans"/>
                <a:cs typeface="Work Sans"/>
                <a:sym typeface="Work Sans"/>
              </a:rPr>
              <a:t>RN, RF, RNF</a:t>
            </a:r>
            <a:endParaRPr kumimoji="0" sz="6000" b="0" i="0" u="none" strike="noStrike" kern="0" cap="none" spc="0" normalizeH="0" baseline="0" noProof="0" dirty="0">
              <a:ln>
                <a:noFill/>
              </a:ln>
              <a:solidFill>
                <a:schemeClr val="bg1"/>
              </a:solidFill>
              <a:effectLst/>
              <a:uLnTx/>
              <a:uFillTx/>
              <a:latin typeface="Work Sans" pitchFamily="2" charset="0"/>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Pts val="7200"/>
              <a:buFont typeface="Arial"/>
              <a:buNone/>
              <a:tabLst/>
              <a:defRPr/>
            </a:pPr>
            <a:endParaRPr kumimoji="0" sz="7200" b="1" i="0" u="none" strike="noStrike" kern="0" cap="none" spc="0" normalizeH="0" baseline="0" noProof="0" dirty="0">
              <a:ln>
                <a:noFill/>
              </a:ln>
              <a:solidFill>
                <a:srgbClr val="FFFFFF"/>
              </a:solidFill>
              <a:effectLst/>
              <a:uLnTx/>
              <a:uFillTx/>
              <a:latin typeface="Work Sans"/>
              <a:ea typeface="Work Sans"/>
              <a:cs typeface="Work Sans"/>
              <a:sym typeface="Work Sans"/>
            </a:endParaRPr>
          </a:p>
        </p:txBody>
      </p:sp>
      <p:cxnSp>
        <p:nvCxnSpPr>
          <p:cNvPr id="101" name="Google Shape;101;p2">
            <a:extLst>
              <a:ext uri="{FF2B5EF4-FFF2-40B4-BE49-F238E27FC236}">
                <a16:creationId xmlns:a16="http://schemas.microsoft.com/office/drawing/2014/main" id="{BCA9F078-E3D0-1D5B-1552-357B456BEFED}"/>
              </a:ext>
            </a:extLst>
          </p:cNvPr>
          <p:cNvCxnSpPr/>
          <p:nvPr/>
        </p:nvCxnSpPr>
        <p:spPr>
          <a:xfrm>
            <a:off x="3225245" y="3604548"/>
            <a:ext cx="5741509" cy="0"/>
          </a:xfrm>
          <a:prstGeom prst="straightConnector1">
            <a:avLst/>
          </a:prstGeom>
          <a:noFill/>
          <a:ln w="12700" cap="flat" cmpd="sng">
            <a:solidFill>
              <a:schemeClr val="lt1"/>
            </a:solidFill>
            <a:prstDash val="solid"/>
            <a:miter lim="800000"/>
            <a:headEnd type="none" w="sm" len="sm"/>
            <a:tailEnd type="none" w="sm" len="sm"/>
          </a:ln>
        </p:spPr>
      </p:cxnSp>
    </p:spTree>
    <p:extLst>
      <p:ext uri="{BB962C8B-B14F-4D97-AF65-F5344CB8AC3E}">
        <p14:creationId xmlns:p14="http://schemas.microsoft.com/office/powerpoint/2010/main" val="3596670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462668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2176233</TotalTime>
  <Words>528</Words>
  <Application>Microsoft Office PowerPoint</Application>
  <PresentationFormat>Panorámica</PresentationFormat>
  <Paragraphs>30</Paragraphs>
  <Slides>11</Slides>
  <Notes>4</Notes>
  <HiddenSlides>0</HiddenSlides>
  <MMClips>0</MMClips>
  <ScaleCrop>false</ScaleCrop>
  <HeadingPairs>
    <vt:vector size="6" baseType="variant">
      <vt:variant>
        <vt:lpstr>Fuentes usadas</vt:lpstr>
      </vt:variant>
      <vt:variant>
        <vt:i4>6</vt:i4>
      </vt:variant>
      <vt:variant>
        <vt:lpstr>Tema</vt:lpstr>
      </vt:variant>
      <vt:variant>
        <vt:i4>2</vt:i4>
      </vt:variant>
      <vt:variant>
        <vt:lpstr>Títulos de diapositiva</vt:lpstr>
      </vt:variant>
      <vt:variant>
        <vt:i4>11</vt:i4>
      </vt:variant>
    </vt:vector>
  </HeadingPairs>
  <TitlesOfParts>
    <vt:vector size="19" baseType="lpstr">
      <vt:lpstr>Arial</vt:lpstr>
      <vt:lpstr>Calibri</vt:lpstr>
      <vt:lpstr>Calibri Light</vt:lpstr>
      <vt:lpstr>Work Sans</vt:lpstr>
      <vt:lpstr>Work Sans Bold Roman</vt:lpstr>
      <vt:lpstr>Work Sans Light</vt:lpstr>
      <vt:lpstr>Tema de Office</vt:lpstr>
      <vt:lpstr>1_Tema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Aprendiz</cp:lastModifiedBy>
  <cp:revision>95</cp:revision>
  <dcterms:created xsi:type="dcterms:W3CDTF">2020-10-01T23:51:28Z</dcterms:created>
  <dcterms:modified xsi:type="dcterms:W3CDTF">2026-04-27T16:29:45Z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