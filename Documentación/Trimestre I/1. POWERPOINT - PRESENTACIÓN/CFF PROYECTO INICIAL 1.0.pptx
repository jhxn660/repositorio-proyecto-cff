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538" r:id="rId2"/>
    <p:sldId id="541" r:id="rId3"/>
    <p:sldId id="535" r:id="rId4"/>
    <p:sldId id="549" r:id="rId5"/>
    <p:sldId id="543" r:id="rId6"/>
    <p:sldId id="537" r:id="rId7"/>
    <p:sldId id="542" r:id="rId8"/>
    <p:sldId id="546" r:id="rId9"/>
    <p:sldId id="536" r:id="rId10"/>
    <p:sldId id="545" r:id="rId11"/>
    <p:sldId id="550" r:id="rId12"/>
    <p:sldId id="547" r:id="rId13"/>
    <p:sldId id="551" r:id="rId14"/>
    <p:sldId id="553" r:id="rId15"/>
    <p:sldId id="548" r:id="rId16"/>
    <p:sldId id="552" r:id="rId17"/>
    <p:sldId id="555" r:id="rId18"/>
    <p:sldId id="556" r:id="rId19"/>
    <p:sldId id="531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4D4D4C"/>
    <a:srgbClr val="343433"/>
    <a:srgbClr val="FF6C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4" autoAdjust="0"/>
    <p:restoredTop sz="97242"/>
  </p:normalViewPr>
  <p:slideViewPr>
    <p:cSldViewPr snapToGrid="0">
      <p:cViewPr varScale="1">
        <p:scale>
          <a:sx n="82" d="100"/>
          <a:sy n="82" d="100"/>
        </p:scale>
        <p:origin x="806" y="72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871308" y="1077086"/>
            <a:ext cx="513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latin typeface="Work Sans Bold Roman" pitchFamily="2" charset="77"/>
              </a:rPr>
              <a:t>RESTAURANTE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A75149-E6A6-4AD2-87ED-54EB51757D9C}"/>
              </a:ext>
            </a:extLst>
          </p:cNvPr>
          <p:cNvSpPr txBox="1"/>
          <p:nvPr/>
        </p:nvSpPr>
        <p:spPr>
          <a:xfrm>
            <a:off x="871307" y="1919598"/>
            <a:ext cx="6942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5400" b="1" dirty="0">
                <a:latin typeface="Work Sans Bold Roman"/>
              </a:rPr>
              <a:t>CORRALEJO FAST FOOD</a:t>
            </a:r>
            <a:endParaRPr kumimoji="0" lang="es-ES" sz="5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18FDD2-E383-2A7D-13E2-9BF540D697FC}"/>
              </a:ext>
            </a:extLst>
          </p:cNvPr>
          <p:cNvSpPr txBox="1"/>
          <p:nvPr/>
        </p:nvSpPr>
        <p:spPr>
          <a:xfrm>
            <a:off x="871307" y="3116414"/>
            <a:ext cx="39777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2000" dirty="0">
                <a:latin typeface="Work Sans Bold Roman" pitchFamily="2" charset="77"/>
              </a:rPr>
              <a:t>Integrantes grupo 3: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sz="2000" dirty="0">
              <a:latin typeface="Work Sans Bold Roman" pitchFamily="2" charset="77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s-ES" sz="2000" dirty="0">
                <a:latin typeface="Work Sans Bold Roman" pitchFamily="2" charset="77"/>
              </a:rPr>
              <a:t>Diego Rincón Reyes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Julián </a:t>
            </a:r>
            <a:r>
              <a:rPr lang="es-ES" sz="2000" dirty="0">
                <a:latin typeface="Work Sans Bold Roman" pitchFamily="2" charset="77"/>
              </a:rPr>
              <a:t>Delgado López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s-ES" sz="2000" dirty="0">
                <a:latin typeface="Work Sans Bold Roman" pitchFamily="2" charset="77"/>
              </a:rPr>
              <a:t>Alberto Camargo Morales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lang="es-ES" sz="2000" dirty="0">
                <a:latin typeface="Work Sans Bold Roman" pitchFamily="2" charset="77"/>
              </a:rPr>
              <a:t>Mateo Chaves Mejía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lang="es-ES" sz="2000" dirty="0">
                <a:latin typeface="Work Sans Bold Roman" pitchFamily="2" charset="77"/>
              </a:rPr>
              <a:t>Sebastián Amaya Manrique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E5A692-A146-1D18-D9BA-7D0E8EC5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245" y="4544291"/>
            <a:ext cx="1456447" cy="145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LISTA DE CHEQUEO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1753361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8B0E5D5A-E492-91A3-A010-EDBE9C3579F2}"/>
              </a:ext>
            </a:extLst>
          </p:cNvPr>
          <p:cNvSpPr txBox="1"/>
          <p:nvPr/>
        </p:nvSpPr>
        <p:spPr>
          <a:xfrm>
            <a:off x="645049" y="2161315"/>
            <a:ext cx="1098470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Nombre del proyecto</a:t>
            </a:r>
            <a:br>
              <a:rPr lang="es-ES" sz="2000" dirty="0">
                <a:solidFill>
                  <a:schemeClr val="bg1"/>
                </a:solidFill>
              </a:rPr>
            </a:b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Planteamiento problema</a:t>
            </a:r>
            <a:br>
              <a:rPr lang="es-ES" sz="2000" dirty="0">
                <a:solidFill>
                  <a:schemeClr val="bg1"/>
                </a:solidFill>
              </a:rPr>
            </a:br>
            <a:r>
              <a:rPr lang="es-ES" sz="200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Justificación </a:t>
            </a:r>
            <a:br>
              <a:rPr lang="es-ES" sz="2000" dirty="0">
                <a:solidFill>
                  <a:schemeClr val="bg1"/>
                </a:solidFill>
              </a:rPr>
            </a:b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Pregunta del proyecto</a:t>
            </a:r>
            <a:br>
              <a:rPr lang="es-ES" sz="2000" dirty="0">
                <a:solidFill>
                  <a:schemeClr val="bg1"/>
                </a:solidFill>
              </a:rPr>
            </a:b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Objetivo general </a:t>
            </a:r>
            <a:br>
              <a:rPr lang="es-ES" sz="2000" dirty="0">
                <a:solidFill>
                  <a:schemeClr val="bg1"/>
                </a:solidFill>
              </a:rPr>
            </a:b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Objetivos específicos </a:t>
            </a:r>
            <a:br>
              <a:rPr lang="es-ES" sz="2000" dirty="0">
                <a:solidFill>
                  <a:schemeClr val="bg1"/>
                </a:solidFill>
              </a:rPr>
            </a:b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Delimitaciones</a:t>
            </a:r>
            <a:endParaRPr lang="es-CO" sz="2000" dirty="0">
              <a:solidFill>
                <a:schemeClr val="bg1"/>
              </a:solidFill>
            </a:endParaRP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856A0D8F-9212-57E9-C123-1EFFF2306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362200"/>
            <a:ext cx="44958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664128" y="981414"/>
            <a:ext cx="10863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WORK SANS BOLD ROMAN" pitchFamily="2" charset="77"/>
              </a:rPr>
              <a:t>Planteamiento del Problema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1812411"/>
            <a:ext cx="224754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F3A3FAE-C260-CCE4-3727-DCFBA7446856}"/>
              </a:ext>
            </a:extLst>
          </p:cNvPr>
          <p:cNvSpPr txBox="1"/>
          <p:nvPr/>
        </p:nvSpPr>
        <p:spPr>
          <a:xfrm>
            <a:off x="1044616" y="2551837"/>
            <a:ext cx="47543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Qué</a:t>
            </a:r>
            <a:br>
              <a:rPr lang="es-ES" sz="2200" dirty="0"/>
            </a:br>
            <a:r>
              <a:rPr lang="es-ES" sz="2400" dirty="0"/>
              <a:t>El restaurante </a:t>
            </a:r>
            <a:r>
              <a:rPr lang="es-ES" sz="2400" b="1" dirty="0"/>
              <a:t>Corralejo </a:t>
            </a:r>
            <a:r>
              <a:rPr lang="es-ES" sz="2400" b="1" dirty="0" err="1"/>
              <a:t>Fast</a:t>
            </a:r>
            <a:r>
              <a:rPr lang="es-ES" sz="2400" b="1" dirty="0"/>
              <a:t> </a:t>
            </a:r>
            <a:r>
              <a:rPr lang="es-ES" sz="2400" b="1" dirty="0" err="1"/>
              <a:t>Food</a:t>
            </a:r>
            <a:r>
              <a:rPr lang="es-ES" sz="2400" dirty="0"/>
              <a:t> presenta dificultades en la organización de los pedidos, el manejo de la información de los platos del menú y el control de los domicilios, los cuales solo se realizan cuando el cliente se encuentra cerca del restaurante, lo que puede generar desorden en los registros y demoras en la atención.</a:t>
            </a:r>
            <a:endParaRPr lang="es-CO" sz="2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575C94-1451-30DE-3D13-04033DB57B97}"/>
              </a:ext>
            </a:extLst>
          </p:cNvPr>
          <p:cNvSpPr txBox="1"/>
          <p:nvPr/>
        </p:nvSpPr>
        <p:spPr>
          <a:xfrm>
            <a:off x="6773571" y="2551837"/>
            <a:ext cx="47543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Para qué</a:t>
            </a:r>
            <a:br>
              <a:rPr lang="es-ES" sz="2200" dirty="0"/>
            </a:br>
            <a:r>
              <a:rPr lang="es-ES" sz="2400" dirty="0"/>
              <a:t>Por esta razón, se propone desarrollar un </a:t>
            </a:r>
            <a:r>
              <a:rPr lang="es-ES" sz="2400" b="1" dirty="0"/>
              <a:t>sistema de información</a:t>
            </a:r>
            <a:r>
              <a:rPr lang="es-ES" sz="2400" dirty="0"/>
              <a:t> que permita organizar el inventario de pedidos, la información de los platos y la gestión de domicilios cercanos, con el fin de mejorar la atención al cliente y optimizar los procesos </a:t>
            </a:r>
            <a:r>
              <a:rPr lang="es-ES" sz="2400"/>
              <a:t>del restaurante.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84C7DDC-1FF6-846C-F43D-8D7C719D8079}"/>
              </a:ext>
            </a:extLst>
          </p:cNvPr>
          <p:cNvSpPr txBox="1"/>
          <p:nvPr/>
        </p:nvSpPr>
        <p:spPr>
          <a:xfrm>
            <a:off x="664127" y="1931098"/>
            <a:ext cx="108637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dirty="0"/>
              <a:t>¿De qué manera el desarrollo e implementación de un sistema de información centralizado permitirá optimizar el control de inventarios y la gestión de pedidos en el restaurante "</a:t>
            </a:r>
            <a:r>
              <a:rPr lang="es-ES" b="1" dirty="0"/>
              <a:t>Corralejo </a:t>
            </a:r>
            <a:r>
              <a:rPr lang="es-ES" b="1" dirty="0" err="1"/>
              <a:t>Fast</a:t>
            </a:r>
            <a:r>
              <a:rPr lang="es-ES" b="1" dirty="0"/>
              <a:t> </a:t>
            </a:r>
            <a:r>
              <a:rPr lang="es-ES" b="1" dirty="0" err="1"/>
              <a:t>Food</a:t>
            </a:r>
            <a:r>
              <a:rPr lang="es-ES" dirty="0"/>
              <a:t>", disminuyendo las pérdidas económicas y mejorando la eficiencia en la atención al cliente?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ABD0BD-75E6-4CB2-5274-8D46E6376CD4}"/>
              </a:ext>
            </a:extLst>
          </p:cNvPr>
          <p:cNvSpPr txBox="1"/>
          <p:nvPr/>
        </p:nvSpPr>
        <p:spPr>
          <a:xfrm>
            <a:off x="664128" y="578003"/>
            <a:ext cx="10863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WORK SANS BOLD ROMAN" pitchFamily="2" charset="77"/>
              </a:rPr>
              <a:t>Pregunta Problema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422FF70-E894-5B98-4AC9-85F4824B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986" y="3376526"/>
            <a:ext cx="5074024" cy="276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1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29723B-706D-8E83-F53E-21DE44403377}"/>
              </a:ext>
            </a:extLst>
          </p:cNvPr>
          <p:cNvSpPr txBox="1"/>
          <p:nvPr/>
        </p:nvSpPr>
        <p:spPr>
          <a:xfrm>
            <a:off x="2305564" y="1160392"/>
            <a:ext cx="32951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WORK SANS BOLD ROMAN" pitchFamily="2" charset="77"/>
              </a:rPr>
              <a:t>Justificación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F315962-2062-EE53-D1F0-505524CCA5EE}"/>
              </a:ext>
            </a:extLst>
          </p:cNvPr>
          <p:cNvCxnSpPr>
            <a:cxnSpLocks/>
          </p:cNvCxnSpPr>
          <p:nvPr/>
        </p:nvCxnSpPr>
        <p:spPr>
          <a:xfrm>
            <a:off x="2829391" y="1999227"/>
            <a:ext cx="224754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CFAB89D3-F8DB-B18F-7BA6-1A632E5EE689}"/>
              </a:ext>
            </a:extLst>
          </p:cNvPr>
          <p:cNvSpPr txBox="1"/>
          <p:nvPr/>
        </p:nvSpPr>
        <p:spPr>
          <a:xfrm>
            <a:off x="1310674" y="2632363"/>
            <a:ext cx="5514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La implementación de un sistema digital dentro del restaurante es necesaria para mejorar el control del inventario y la gestión de pedidos, ya que el manejo manual actual genera errores, pérdidas de insumos y fallas en la atención al cliente. Un sistema centralizado permitirá organizar la información en tiempo real, reducir congestiones en horas pico, agilizar los pedidos y apoyar la toma de decisiones, optimizando los procesos internos y mejorando la eficiencia operativa del restaurante.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DC56CA-2C48-3113-C3A2-496BD5922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558" y="659924"/>
            <a:ext cx="3692102" cy="553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0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293246" y="1856809"/>
            <a:ext cx="715472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🎯</a:t>
            </a:r>
            <a:r>
              <a:rPr lang="es-CO" b="1" dirty="0">
                <a:solidFill>
                  <a:srgbClr val="38AA00"/>
                </a:solidFill>
                <a:latin typeface="WORK SANS BOLD ROMAN" pitchFamily="2" charset="77"/>
              </a:rPr>
              <a:t>Objetivo General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2557278" y="2533407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8BBAEB4-207C-E400-BE63-CCA63A18C095}"/>
              </a:ext>
            </a:extLst>
          </p:cNvPr>
          <p:cNvSpPr txBox="1"/>
          <p:nvPr/>
        </p:nvSpPr>
        <p:spPr>
          <a:xfrm>
            <a:off x="1074875" y="3036612"/>
            <a:ext cx="61202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Desarrollar</a:t>
            </a:r>
            <a:r>
              <a:rPr lang="es-ES" dirty="0"/>
              <a:t> un sistema de información que permita la gestión de los platos del menú del restaurante Corralejo </a:t>
            </a:r>
            <a:r>
              <a:rPr lang="es-ES" dirty="0" err="1"/>
              <a:t>Fast</a:t>
            </a:r>
            <a:r>
              <a:rPr lang="es-ES" dirty="0"/>
              <a:t> </a:t>
            </a:r>
            <a:r>
              <a:rPr lang="es-ES" dirty="0" err="1"/>
              <a:t>Food</a:t>
            </a:r>
            <a:r>
              <a:rPr lang="es-ES" dirty="0"/>
              <a:t> y, simultáneamente, implementar un módulo de ventas en línea dirigido a los clientes, con el fin de organizar la información, registrar pedidos y generar tickets de manera eficiente, mejorando así la atención al cliente y la operatividad del negocio.</a:t>
            </a:r>
            <a:endParaRPr lang="es-ES" dirty="0">
              <a:effectLst/>
            </a:endParaRPr>
          </a:p>
        </p:txBody>
      </p:sp>
      <p:pic>
        <p:nvPicPr>
          <p:cNvPr id="1026" name="Picture 2" descr="Vectores de Objetivo general png - Descarga vectores gratis de gran calidad  de Freepik | Freepik">
            <a:extLst>
              <a:ext uri="{FF2B5EF4-FFF2-40B4-BE49-F238E27FC236}">
                <a16:creationId xmlns:a16="http://schemas.microsoft.com/office/drawing/2014/main" id="{A4808F8B-86A7-1DCA-4FC0-B7F374775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816" y="1648691"/>
            <a:ext cx="3874655" cy="387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6F3F9CE-1C13-4422-B3AE-2A75436E07C0}"/>
              </a:ext>
            </a:extLst>
          </p:cNvPr>
          <p:cNvCxnSpPr>
            <a:cxnSpLocks/>
          </p:cNvCxnSpPr>
          <p:nvPr/>
        </p:nvCxnSpPr>
        <p:spPr>
          <a:xfrm>
            <a:off x="3346486" y="1228433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1B2FD0A5-A0E1-0624-80D5-6963D265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215" y="887058"/>
            <a:ext cx="7729507" cy="5970942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15B84577-6613-C4BA-E5A6-4D342625AC0D}"/>
              </a:ext>
            </a:extLst>
          </p:cNvPr>
          <p:cNvSpPr txBox="1">
            <a:spLocks/>
          </p:cNvSpPr>
          <p:nvPr/>
        </p:nvSpPr>
        <p:spPr>
          <a:xfrm>
            <a:off x="3215825" y="418846"/>
            <a:ext cx="6235552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🎯</a:t>
            </a:r>
            <a:r>
              <a:rPr lang="es-CO" b="1" dirty="0">
                <a:solidFill>
                  <a:srgbClr val="38AA00"/>
                </a:solidFill>
                <a:latin typeface="WORK SANS BOLD ROMAN" pitchFamily="2" charset="77"/>
              </a:rPr>
              <a:t>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367139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22CE28-2A8B-249F-95BC-6984470677FE}"/>
              </a:ext>
            </a:extLst>
          </p:cNvPr>
          <p:cNvSpPr txBox="1"/>
          <p:nvPr/>
        </p:nvSpPr>
        <p:spPr>
          <a:xfrm>
            <a:off x="3341086" y="665145"/>
            <a:ext cx="55098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WORK SANS BOLD ROMAN" pitchFamily="2" charset="77"/>
              </a:rPr>
              <a:t>Módulos del Sistema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0A0A83F-5A5B-DFA7-2757-C8A81FE7A120}"/>
              </a:ext>
            </a:extLst>
          </p:cNvPr>
          <p:cNvCxnSpPr>
            <a:cxnSpLocks/>
          </p:cNvCxnSpPr>
          <p:nvPr/>
        </p:nvCxnSpPr>
        <p:spPr>
          <a:xfrm>
            <a:off x="4972228" y="1485507"/>
            <a:ext cx="224754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14F8CE5-D6AA-4C29-80AC-F3263D631718}"/>
              </a:ext>
            </a:extLst>
          </p:cNvPr>
          <p:cNvSpPr txBox="1"/>
          <p:nvPr/>
        </p:nvSpPr>
        <p:spPr>
          <a:xfrm>
            <a:off x="713509" y="1578152"/>
            <a:ext cx="107649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O" b="1" dirty="0"/>
              <a:t>Gestión de Pedidos</a:t>
            </a:r>
            <a:r>
              <a:rPr lang="es-ES" b="1" dirty="0"/>
              <a:t>: </a:t>
            </a:r>
            <a:r>
              <a:rPr lang="es-ES" dirty="0"/>
              <a:t>Permite registrar, organizar y hacer seguimiento a los pedidos realizados por los clientes en el restaurante o a domicilio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Administración de Platos del Menú: </a:t>
            </a:r>
            <a:r>
              <a:rPr lang="es-ES" dirty="0"/>
              <a:t>Permite registrar, editar y eliminar los platos disponibles en el restaurante, incluyendo su descripción, precio e imagen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Generación de comprobante de pedido: </a:t>
            </a:r>
            <a:r>
              <a:rPr lang="es-ES" dirty="0"/>
              <a:t>Permite generar un ticket o comprobante con la información del pedido realizado por el cliente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Reportes: </a:t>
            </a:r>
            <a:r>
              <a:rPr lang="es-ES" dirty="0"/>
              <a:t>Permite consultar información relacionada con los pedidos registrados y los platos más solicitados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Gestión de Usuarios y Roles: </a:t>
            </a:r>
            <a:r>
              <a:rPr lang="es-ES" dirty="0"/>
              <a:t>Permite administrar el acceso al sistema según el rol de cada empleado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Ventas Online / Pedidos a través de la Web</a:t>
            </a:r>
            <a:r>
              <a:rPr lang="es-ES" dirty="0"/>
              <a:t>: Permite a los clientes visualizar el menú digital, seleccionar platos, armar su pedido, ingresar datos de entrega (dirección, teléfono), elegir método de pago y realizar el seguimiento del estado del pedido en tiempo real</a:t>
            </a:r>
          </a:p>
        </p:txBody>
      </p:sp>
    </p:spTree>
    <p:extLst>
      <p:ext uri="{BB962C8B-B14F-4D97-AF65-F5344CB8AC3E}">
        <p14:creationId xmlns:p14="http://schemas.microsoft.com/office/powerpoint/2010/main" val="3399921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1188095" y="1025196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BOLD ROMAN" pitchFamily="2" charset="77"/>
              </a:rPr>
              <a:t>Delimitación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6596A48-0DA7-CD31-41A5-A71F8ADCFA3C}"/>
              </a:ext>
            </a:extLst>
          </p:cNvPr>
          <p:cNvCxnSpPr>
            <a:cxnSpLocks/>
          </p:cNvCxnSpPr>
          <p:nvPr/>
        </p:nvCxnSpPr>
        <p:spPr>
          <a:xfrm>
            <a:off x="5438449" y="1692865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31C1596-DBC7-8513-D6EC-63044CB10162}"/>
              </a:ext>
            </a:extLst>
          </p:cNvPr>
          <p:cNvSpPr txBox="1"/>
          <p:nvPr/>
        </p:nvSpPr>
        <p:spPr>
          <a:xfrm>
            <a:off x="701964" y="2425369"/>
            <a:ext cx="107880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sistema está diseñado para optimizar la operación interna del restaurante, enfocándose en el control del inventario y la gestión de pedidos tanto en el local como en el servicio a domicilio. Permite organizar insumos, registrar movimientos, administrar el menú y manejar pedidos de forma ordenada dentro del flujo diario de trabajo.</a:t>
            </a:r>
          </a:p>
          <a:p>
            <a:endParaRPr lang="es-ES" dirty="0"/>
          </a:p>
          <a:p>
            <a:r>
              <a:rPr lang="es-ES" dirty="0"/>
              <a:t>Su alcance se limita a las funciones esenciales del negocio. No incluye integraciones externas, pagos digitales, sistemas contables avanzados, seguimiento para clientes, ni herramientas de marketing o facturación electrónica compleja. El objetivo es mejorar la organización interna, agilizar procesos y apoyar la toma de decisiones mediante reportes básicos.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5888E5-B9A7-D0F7-8EB3-BEBF7C5F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91BF2E-9FA3-EDDB-2496-0BA4B171B1DC}"/>
              </a:ext>
            </a:extLst>
          </p:cNvPr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LISTA DE CHEQUEO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DDBB91F-10B6-A5BC-5E0C-97C13FE7D040}"/>
              </a:ext>
            </a:extLst>
          </p:cNvPr>
          <p:cNvCxnSpPr>
            <a:cxnSpLocks/>
          </p:cNvCxnSpPr>
          <p:nvPr/>
        </p:nvCxnSpPr>
        <p:spPr>
          <a:xfrm>
            <a:off x="5013630" y="1753361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DB5D96EB-70E0-BE76-27CA-DF8F6EDEFC45}"/>
              </a:ext>
            </a:extLst>
          </p:cNvPr>
          <p:cNvSpPr txBox="1"/>
          <p:nvPr/>
        </p:nvSpPr>
        <p:spPr>
          <a:xfrm>
            <a:off x="645049" y="2921168"/>
            <a:ext cx="109847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Diagrama de proceso actual </a:t>
            </a:r>
            <a:br>
              <a:rPr lang="es-ES" sz="2000" dirty="0">
                <a:solidFill>
                  <a:schemeClr val="bg1"/>
                </a:solidFill>
              </a:rPr>
            </a:b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Macroprocesos con 2 – 3 subprocesos clave</a:t>
            </a:r>
            <a:endParaRPr lang="es-CO" sz="200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9C08CD2-F477-FF60-F0C7-111DE7EC4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297" y="2510959"/>
            <a:ext cx="2951735" cy="36000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231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9A3C4-EA21-18E2-E898-BC7DE417FAA9}"/>
              </a:ext>
            </a:extLst>
          </p:cNvPr>
          <p:cNvSpPr txBox="1">
            <a:spLocks/>
          </p:cNvSpPr>
          <p:nvPr/>
        </p:nvSpPr>
        <p:spPr>
          <a:xfrm>
            <a:off x="1188095" y="277867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b="1" dirty="0">
                <a:solidFill>
                  <a:srgbClr val="38AA00"/>
                </a:solidFill>
                <a:latin typeface="WORK SANS BOLD ROMAN" pitchFamily="2" charset="77"/>
              </a:rPr>
              <a:t>Diagrama de Procesos</a:t>
            </a:r>
            <a:endParaRPr kumimoji="0" lang="es-CO" b="1" u="none" strike="noStrike" kern="1200" cap="none" spc="0" normalizeH="0" baseline="0" noProof="0" dirty="0">
              <a:ln>
                <a:noFill/>
              </a:ln>
              <a:solidFill>
                <a:srgbClr val="38AA00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859E06-713D-B681-8E08-A5EBA1663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8" y="1019430"/>
            <a:ext cx="11210366" cy="581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9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75F03-9C07-F110-6032-7C30C11B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269149-501C-01C9-1B6E-739F082C73E7}"/>
              </a:ext>
            </a:extLst>
          </p:cNvPr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LISTA DE CHEQUEO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528286E-E629-596C-B6F9-CB0DBA9CF0F4}"/>
              </a:ext>
            </a:extLst>
          </p:cNvPr>
          <p:cNvCxnSpPr>
            <a:cxnSpLocks/>
          </p:cNvCxnSpPr>
          <p:nvPr/>
        </p:nvCxnSpPr>
        <p:spPr>
          <a:xfrm>
            <a:off x="5013630" y="1753361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A70C1575-E61A-D3B7-3A8D-5FDC4C105304}"/>
              </a:ext>
            </a:extLst>
          </p:cNvPr>
          <p:cNvSpPr txBox="1"/>
          <p:nvPr/>
        </p:nvSpPr>
        <p:spPr>
          <a:xfrm>
            <a:off x="645049" y="2921168"/>
            <a:ext cx="109847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Recolección de datos, por el método de encuestas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Estadísticas descriptivas </a:t>
            </a:r>
            <a:endParaRPr lang="es-CO" sz="2000" dirty="0">
              <a:solidFill>
                <a:schemeClr val="bg1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B9099F7-73CE-0F6D-FD82-3CF97027A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207" y="3295624"/>
            <a:ext cx="4822793" cy="35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345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F691A-5B39-950D-F513-B3098896EBA4}"/>
              </a:ext>
            </a:extLst>
          </p:cNvPr>
          <p:cNvSpPr txBox="1">
            <a:spLocks/>
          </p:cNvSpPr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BOLD ROMAN" pitchFamily="2" charset="77"/>
              </a:rPr>
              <a:t>Encuesta Restaurante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C4DE49-80D1-194B-6D70-89DC6D268332}"/>
              </a:ext>
            </a:extLst>
          </p:cNvPr>
          <p:cNvSpPr txBox="1"/>
          <p:nvPr/>
        </p:nvSpPr>
        <p:spPr>
          <a:xfrm>
            <a:off x="743527" y="1944905"/>
            <a:ext cx="10704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La técnica que utilizamos para la recolección de datos fue (Encuestas).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815E9C-C3E4-F09A-80D0-EB55A198DD17}"/>
              </a:ext>
            </a:extLst>
          </p:cNvPr>
          <p:cNvSpPr txBox="1"/>
          <p:nvPr/>
        </p:nvSpPr>
        <p:spPr>
          <a:xfrm>
            <a:off x="743527" y="2565456"/>
            <a:ext cx="10704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</a:t>
            </a:r>
            <a:r>
              <a:rPr lang="es-CO" dirty="0"/>
              <a:t>ara ello, fuimos a un restaurante especifico (</a:t>
            </a:r>
            <a:r>
              <a:rPr lang="es-CO" b="1" dirty="0"/>
              <a:t>CORRALEJO FAST FOOD</a:t>
            </a:r>
            <a:r>
              <a:rPr lang="es-CO" dirty="0"/>
              <a:t>), donde se encuesto a cada uno de los participantes que encontrábamos dentro del restaurante, obteniendo resultados y hallazgos que nos favorecen al momento de presentar un sistema de información completo.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ABC1393-A69E-9CDD-1219-C2F163B2E3CB}"/>
              </a:ext>
            </a:extLst>
          </p:cNvPr>
          <p:cNvCxnSpPr>
            <a:cxnSpLocks/>
          </p:cNvCxnSpPr>
          <p:nvPr/>
        </p:nvCxnSpPr>
        <p:spPr>
          <a:xfrm>
            <a:off x="5438449" y="1277230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26" name="Picture 2" descr="Gráficas interactivas, Ayuda de Numbers">
            <a:extLst>
              <a:ext uri="{FF2B5EF4-FFF2-40B4-BE49-F238E27FC236}">
                <a16:creationId xmlns:a16="http://schemas.microsoft.com/office/drawing/2014/main" id="{72400D05-2BD0-E923-2FF0-C8C98B0ABC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" b="37138"/>
          <a:stretch>
            <a:fillRect/>
          </a:stretch>
        </p:blipFill>
        <p:spPr bwMode="auto">
          <a:xfrm>
            <a:off x="1312332" y="3999346"/>
            <a:ext cx="9448800" cy="204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09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698A7EA-AB52-EE38-C428-1A74C2E8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43" b="11650"/>
          <a:stretch>
            <a:fillRect/>
          </a:stretch>
        </p:blipFill>
        <p:spPr>
          <a:xfrm>
            <a:off x="222636" y="1471694"/>
            <a:ext cx="11746727" cy="4671993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C50E4B44-97B3-D0CF-F1A0-827F8EE08A07}"/>
              </a:ext>
            </a:extLst>
          </p:cNvPr>
          <p:cNvSpPr txBox="1">
            <a:spLocks/>
          </p:cNvSpPr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BOLD ROMAN" pitchFamily="2" charset="77"/>
              </a:rPr>
              <a:t>Resultado de la Encuesta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BF1B876-99DE-F1E6-564C-CD9EF9767FAD}"/>
              </a:ext>
            </a:extLst>
          </p:cNvPr>
          <p:cNvCxnSpPr>
            <a:cxnSpLocks/>
          </p:cNvCxnSpPr>
          <p:nvPr/>
        </p:nvCxnSpPr>
        <p:spPr>
          <a:xfrm>
            <a:off x="5438449" y="1277230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44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00ED6-6536-EF5C-0958-65E8CB4D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D95F644-B61F-5859-567F-5753778E102B}"/>
              </a:ext>
            </a:extLst>
          </p:cNvPr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LISTA DE CHEQUEO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45AFDE2-9F3F-B856-BE07-FABE12A28112}"/>
              </a:ext>
            </a:extLst>
          </p:cNvPr>
          <p:cNvCxnSpPr>
            <a:cxnSpLocks/>
          </p:cNvCxnSpPr>
          <p:nvPr/>
        </p:nvCxnSpPr>
        <p:spPr>
          <a:xfrm>
            <a:off x="5013630" y="1753361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866C68B-0783-0568-542C-953A311D3BAD}"/>
              </a:ext>
            </a:extLst>
          </p:cNvPr>
          <p:cNvSpPr txBox="1"/>
          <p:nvPr/>
        </p:nvSpPr>
        <p:spPr>
          <a:xfrm>
            <a:off x="645049" y="2368914"/>
            <a:ext cx="10984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000" dirty="0">
                <a:solidFill>
                  <a:schemeClr val="bg1"/>
                </a:solidFill>
              </a:rPr>
              <a:t>Elaboración de los requerimientos funcionales y no funcionales bajo el estándar. </a:t>
            </a:r>
            <a:endParaRPr lang="es-CO" sz="2000" dirty="0">
              <a:solidFill>
                <a:schemeClr val="bg1"/>
              </a:solidFill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50251F27-D82B-C3FC-CA40-20975C32D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171" y="2979655"/>
            <a:ext cx="3545657" cy="3545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680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B444A-179F-EE89-5548-B4996173FC71}"/>
              </a:ext>
            </a:extLst>
          </p:cNvPr>
          <p:cNvSpPr txBox="1">
            <a:spLocks/>
          </p:cNvSpPr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BOLD ROMAN" pitchFamily="2" charset="77"/>
              </a:rPr>
              <a:t>Especificación de Requerimientos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40DB4A-7042-58BD-19AB-4949E1E8EA2C}"/>
              </a:ext>
            </a:extLst>
          </p:cNvPr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Requerimientos de Negocio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9EF6D0-B0E5-0161-4115-6C2B594BD36B}"/>
              </a:ext>
            </a:extLst>
          </p:cNvPr>
          <p:cNvSpPr txBox="1"/>
          <p:nvPr/>
        </p:nvSpPr>
        <p:spPr>
          <a:xfrm>
            <a:off x="701964" y="2492168"/>
            <a:ext cx="52563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Optimizar el control del inventario para reducir pérdidas económicas.</a:t>
            </a:r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r>
              <a:rPr lang="es-ES" dirty="0"/>
              <a:t>Mejorar la gestión de pedidos en local y a domicilio.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Apoyar la toma de decisiones operativas mediante información organizada.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3B4047-5322-F3C4-D4D3-5CC0AFFF15C7}"/>
              </a:ext>
            </a:extLst>
          </p:cNvPr>
          <p:cNvSpPr txBox="1"/>
          <p:nvPr/>
        </p:nvSpPr>
        <p:spPr>
          <a:xfrm>
            <a:off x="6233652" y="2492168"/>
            <a:ext cx="52563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Reducir tiempos de espera en horas pico.</a:t>
            </a:r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pPr algn="ctr"/>
            <a:endParaRPr lang="es-ES" dirty="0"/>
          </a:p>
          <a:p>
            <a:r>
              <a:rPr lang="es-ES" dirty="0"/>
              <a:t>Centralizar la información operativa del restaurante.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Estandarizar los procesos internos del restaurante.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CE6DEBD-530F-A0DB-1F65-2CFA18A6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Reducir tiempos de espera en horas pico.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ángulo: esquinas diagonales cortadas 9">
            <a:extLst>
              <a:ext uri="{FF2B5EF4-FFF2-40B4-BE49-F238E27FC236}">
                <a16:creationId xmlns:a16="http://schemas.microsoft.com/office/drawing/2014/main" id="{064A6C9A-26D0-3FC4-378F-3D6FB5AA8579}"/>
              </a:ext>
            </a:extLst>
          </p:cNvPr>
          <p:cNvSpPr/>
          <p:nvPr/>
        </p:nvSpPr>
        <p:spPr>
          <a:xfrm>
            <a:off x="701961" y="2104653"/>
            <a:ext cx="655453" cy="369332"/>
          </a:xfrm>
          <a:prstGeom prst="snip2Diag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01.</a:t>
            </a:r>
            <a:endParaRPr lang="es-CO" dirty="0"/>
          </a:p>
        </p:txBody>
      </p:sp>
      <p:sp>
        <p:nvSpPr>
          <p:cNvPr id="11" name="Rectángulo: esquinas diagonales cortadas 10">
            <a:extLst>
              <a:ext uri="{FF2B5EF4-FFF2-40B4-BE49-F238E27FC236}">
                <a16:creationId xmlns:a16="http://schemas.microsoft.com/office/drawing/2014/main" id="{B9203CC4-FC0E-2861-DBD4-7CE20C6C2159}"/>
              </a:ext>
            </a:extLst>
          </p:cNvPr>
          <p:cNvSpPr/>
          <p:nvPr/>
        </p:nvSpPr>
        <p:spPr>
          <a:xfrm>
            <a:off x="701962" y="3498557"/>
            <a:ext cx="655453" cy="369332"/>
          </a:xfrm>
          <a:prstGeom prst="snip2Diag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03.</a:t>
            </a:r>
            <a:endParaRPr lang="es-CO" dirty="0"/>
          </a:p>
        </p:txBody>
      </p:sp>
      <p:sp>
        <p:nvSpPr>
          <p:cNvPr id="12" name="Rectángulo: esquinas diagonales cortadas 11">
            <a:extLst>
              <a:ext uri="{FF2B5EF4-FFF2-40B4-BE49-F238E27FC236}">
                <a16:creationId xmlns:a16="http://schemas.microsoft.com/office/drawing/2014/main" id="{88ED9E2F-395E-178B-2BA8-C6FDBAE05B6B}"/>
              </a:ext>
            </a:extLst>
          </p:cNvPr>
          <p:cNvSpPr/>
          <p:nvPr/>
        </p:nvSpPr>
        <p:spPr>
          <a:xfrm>
            <a:off x="701961" y="4874278"/>
            <a:ext cx="655453" cy="369332"/>
          </a:xfrm>
          <a:prstGeom prst="snip2Diag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05.</a:t>
            </a:r>
            <a:endParaRPr lang="es-CO" dirty="0"/>
          </a:p>
        </p:txBody>
      </p:sp>
      <p:sp>
        <p:nvSpPr>
          <p:cNvPr id="13" name="Rectángulo: esquinas diagonales cortadas 12">
            <a:extLst>
              <a:ext uri="{FF2B5EF4-FFF2-40B4-BE49-F238E27FC236}">
                <a16:creationId xmlns:a16="http://schemas.microsoft.com/office/drawing/2014/main" id="{9D5833DA-E238-E407-D6C5-FA5A7F70040E}"/>
              </a:ext>
            </a:extLst>
          </p:cNvPr>
          <p:cNvSpPr/>
          <p:nvPr/>
        </p:nvSpPr>
        <p:spPr>
          <a:xfrm>
            <a:off x="6233652" y="2122836"/>
            <a:ext cx="655453" cy="369332"/>
          </a:xfrm>
          <a:prstGeom prst="snip2Diag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02.</a:t>
            </a:r>
            <a:endParaRPr lang="es-CO" dirty="0"/>
          </a:p>
        </p:txBody>
      </p:sp>
      <p:sp>
        <p:nvSpPr>
          <p:cNvPr id="14" name="Rectángulo: esquinas diagonales cortadas 13">
            <a:extLst>
              <a:ext uri="{FF2B5EF4-FFF2-40B4-BE49-F238E27FC236}">
                <a16:creationId xmlns:a16="http://schemas.microsoft.com/office/drawing/2014/main" id="{05CF3CD5-0D4F-BE72-4E9F-02E0DDC21CE8}"/>
              </a:ext>
            </a:extLst>
          </p:cNvPr>
          <p:cNvSpPr/>
          <p:nvPr/>
        </p:nvSpPr>
        <p:spPr>
          <a:xfrm>
            <a:off x="6230254" y="3498557"/>
            <a:ext cx="655453" cy="369332"/>
          </a:xfrm>
          <a:prstGeom prst="snip2Diag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04.</a:t>
            </a:r>
            <a:endParaRPr lang="es-CO" dirty="0"/>
          </a:p>
        </p:txBody>
      </p:sp>
      <p:sp>
        <p:nvSpPr>
          <p:cNvPr id="15" name="Rectángulo: esquinas diagonales cortadas 14">
            <a:extLst>
              <a:ext uri="{FF2B5EF4-FFF2-40B4-BE49-F238E27FC236}">
                <a16:creationId xmlns:a16="http://schemas.microsoft.com/office/drawing/2014/main" id="{101DDC64-7528-0EA1-8A7F-0463259F46BC}"/>
              </a:ext>
            </a:extLst>
          </p:cNvPr>
          <p:cNvSpPr/>
          <p:nvPr/>
        </p:nvSpPr>
        <p:spPr>
          <a:xfrm>
            <a:off x="6230254" y="4874278"/>
            <a:ext cx="655453" cy="369332"/>
          </a:xfrm>
          <a:prstGeom prst="snip2Diag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06.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37300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0E725-000D-17A7-1A2F-80F79A04D613}"/>
              </a:ext>
            </a:extLst>
          </p:cNvPr>
          <p:cNvSpPr txBox="1">
            <a:spLocks/>
          </p:cNvSpPr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BOLD ROMAN" pitchFamily="2" charset="77"/>
              </a:rPr>
              <a:t>Especificación de Requerimientos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C07997-FA70-F906-024B-6107C5E2F1F7}"/>
              </a:ext>
            </a:extLst>
          </p:cNvPr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Requerimientos de Usuario (Historias de Usuario)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27D827-F810-2CCF-B954-57564E579486}"/>
              </a:ext>
            </a:extLst>
          </p:cNvPr>
          <p:cNvSpPr txBox="1"/>
          <p:nvPr/>
        </p:nvSpPr>
        <p:spPr>
          <a:xfrm>
            <a:off x="701963" y="5420499"/>
            <a:ext cx="10788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Objetivos Específicos 		Módulos del Sistema 		Roles Implícitos </a:t>
            </a:r>
          </a:p>
        </p:txBody>
      </p:sp>
      <p:pic>
        <p:nvPicPr>
          <p:cNvPr id="4104" name="Picture 8" descr="Gestión de personal, definición de perspectivas, orientación a objetivos.  Organización del trabajo en equipo. Coach de negocios, ejecutivo de empresa  y personajes de dibujos animados de personal | Vector gratuito">
            <a:extLst>
              <a:ext uri="{FF2B5EF4-FFF2-40B4-BE49-F238E27FC236}">
                <a16:creationId xmlns:a16="http://schemas.microsoft.com/office/drawing/2014/main" id="{A537DD30-E42D-FA13-C1D0-37CD2FDE1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426" y="2168092"/>
            <a:ext cx="2521816" cy="252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19A943B-7B26-5A18-EA1B-8C52AC34C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433" y="2168092"/>
            <a:ext cx="3969327" cy="264621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FEB72D4-7966-958D-3A37-8F62B8634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249" y="2407155"/>
            <a:ext cx="2168092" cy="216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66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FA848-5E2D-2BE5-5BE4-517AA5C3769E}"/>
              </a:ext>
            </a:extLst>
          </p:cNvPr>
          <p:cNvSpPr txBox="1">
            <a:spLocks/>
          </p:cNvSpPr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b="1" u="none" strike="noStrike" kern="1200" cap="none" spc="0" normalizeH="0" baseline="0" noProof="0" dirty="0">
                <a:ln>
                  <a:noFill/>
                </a:ln>
                <a:solidFill>
                  <a:srgbClr val="38AA00"/>
                </a:solidFill>
                <a:effectLst/>
                <a:uLnTx/>
                <a:uFillTx/>
                <a:latin typeface="WORK SANS BOLD ROMAN" pitchFamily="2" charset="77"/>
              </a:rPr>
              <a:t>Especificación de Requerimientos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C5DAC0-A478-E7C1-8E56-7B4CF0593597}"/>
              </a:ext>
            </a:extLst>
          </p:cNvPr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dirty="0"/>
              <a:t>Requerimientos de Usuario (Historias de Usuario)</a:t>
            </a:r>
          </a:p>
        </p:txBody>
      </p:sp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CAAE4350-8746-948D-A438-8021F771967A}"/>
              </a:ext>
            </a:extLst>
          </p:cNvPr>
          <p:cNvSpPr/>
          <p:nvPr/>
        </p:nvSpPr>
        <p:spPr>
          <a:xfrm>
            <a:off x="8451273" y="2041240"/>
            <a:ext cx="3038762" cy="1293091"/>
          </a:xfrm>
          <a:prstGeom prst="round2DiagRect">
            <a:avLst/>
          </a:prstGeom>
          <a:solidFill>
            <a:schemeClr val="accent6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Registra Pedidos </a:t>
            </a:r>
            <a:br>
              <a:rPr lang="es-CO" dirty="0"/>
            </a:br>
            <a:r>
              <a:rPr lang="es-CO" dirty="0"/>
              <a:t>Domicilio / Local</a:t>
            </a:r>
          </a:p>
        </p:txBody>
      </p:sp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7E8E3063-7509-24BA-A432-74A2EC4E660B}"/>
              </a:ext>
            </a:extLst>
          </p:cNvPr>
          <p:cNvSpPr/>
          <p:nvPr/>
        </p:nvSpPr>
        <p:spPr>
          <a:xfrm flipH="1">
            <a:off x="6931892" y="3546767"/>
            <a:ext cx="3038762" cy="1293091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Registra Ventas </a:t>
            </a:r>
          </a:p>
          <a:p>
            <a:pPr algn="ctr"/>
            <a:r>
              <a:rPr lang="es-CO" dirty="0"/>
              <a:t>Diarias</a:t>
            </a:r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D4FFA9B-8764-85DC-2815-53753F77000C}"/>
              </a:ext>
            </a:extLst>
          </p:cNvPr>
          <p:cNvSpPr/>
          <p:nvPr/>
        </p:nvSpPr>
        <p:spPr>
          <a:xfrm>
            <a:off x="8451273" y="5052295"/>
            <a:ext cx="3038762" cy="1293091"/>
          </a:xfrm>
          <a:prstGeom prst="round2DiagRect">
            <a:avLst/>
          </a:prstGeom>
          <a:solidFill>
            <a:schemeClr val="accent6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Gestiona y Controla </a:t>
            </a:r>
            <a:br>
              <a:rPr lang="es-ES" dirty="0"/>
            </a:br>
            <a:r>
              <a:rPr lang="es-ES" dirty="0"/>
              <a:t>Usuario / Acceso / Rol</a:t>
            </a:r>
            <a:endParaRPr lang="es-CO" dirty="0"/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9EFFEA12-61D9-E315-3024-0F20B1FC10D7}"/>
              </a:ext>
            </a:extLst>
          </p:cNvPr>
          <p:cNvSpPr/>
          <p:nvPr/>
        </p:nvSpPr>
        <p:spPr>
          <a:xfrm flipH="1">
            <a:off x="701963" y="2041239"/>
            <a:ext cx="3038762" cy="1293091"/>
          </a:xfrm>
          <a:prstGeom prst="round2DiagRect">
            <a:avLst/>
          </a:prstGeom>
          <a:solidFill>
            <a:schemeClr val="accent6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Gestiona Inventario del Restaurante</a:t>
            </a:r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DCD9175A-858C-F80F-96C7-1107DC57581B}"/>
              </a:ext>
            </a:extLst>
          </p:cNvPr>
          <p:cNvSpPr/>
          <p:nvPr/>
        </p:nvSpPr>
        <p:spPr>
          <a:xfrm>
            <a:off x="2221344" y="3546766"/>
            <a:ext cx="3038762" cy="1293091"/>
          </a:xfrm>
          <a:prstGeom prst="round2Diag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Administra </a:t>
            </a:r>
          </a:p>
          <a:p>
            <a:pPr algn="ctr"/>
            <a:r>
              <a:rPr lang="es-CO" dirty="0"/>
              <a:t>Productos / Menú</a:t>
            </a:r>
          </a:p>
        </p:txBody>
      </p: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74C328B9-BA7D-5846-B128-C5BDB4709CE8}"/>
              </a:ext>
            </a:extLst>
          </p:cNvPr>
          <p:cNvSpPr/>
          <p:nvPr/>
        </p:nvSpPr>
        <p:spPr>
          <a:xfrm flipH="1">
            <a:off x="701963" y="5052294"/>
            <a:ext cx="3038762" cy="1293091"/>
          </a:xfrm>
          <a:prstGeom prst="round2DiagRect">
            <a:avLst/>
          </a:prstGeom>
          <a:solidFill>
            <a:schemeClr val="accent6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Analiza Horarios de </a:t>
            </a:r>
          </a:p>
          <a:p>
            <a:pPr algn="ctr"/>
            <a:r>
              <a:rPr lang="es-CO" dirty="0"/>
              <a:t>Alta Demanda.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7DA959B-37D6-DFD6-2647-32872C17564C}"/>
              </a:ext>
            </a:extLst>
          </p:cNvPr>
          <p:cNvSpPr/>
          <p:nvPr/>
        </p:nvSpPr>
        <p:spPr>
          <a:xfrm>
            <a:off x="6629399" y="3163458"/>
            <a:ext cx="858982" cy="85898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29418B6-3592-66E3-3296-D370FBC8F55E}"/>
              </a:ext>
            </a:extLst>
          </p:cNvPr>
          <p:cNvSpPr/>
          <p:nvPr/>
        </p:nvSpPr>
        <p:spPr>
          <a:xfrm>
            <a:off x="4807526" y="3163458"/>
            <a:ext cx="858982" cy="85898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67014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2176015</TotalTime>
  <Words>894</Words>
  <Application>Microsoft Office PowerPoint</Application>
  <PresentationFormat>Panorámica</PresentationFormat>
  <Paragraphs>98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WORK SANS BOLD ROMAN</vt:lpstr>
      <vt:lpstr>WORK SANS BOLD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ALBERTO  CAMARGO MORALES</cp:lastModifiedBy>
  <cp:revision>90</cp:revision>
  <dcterms:created xsi:type="dcterms:W3CDTF">2020-10-01T23:51:28Z</dcterms:created>
  <dcterms:modified xsi:type="dcterms:W3CDTF">2026-03-19T19:02:56Z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