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handoutMasterIdLst>
    <p:handoutMasterId r:id="rId13"/>
  </p:handoutMasterIdLst>
  <p:sldIdLst>
    <p:sldId id="538" r:id="rId2"/>
    <p:sldId id="535" r:id="rId3"/>
    <p:sldId id="537" r:id="rId4"/>
    <p:sldId id="542" r:id="rId5"/>
    <p:sldId id="546" r:id="rId6"/>
    <p:sldId id="548" r:id="rId7"/>
    <p:sldId id="549" r:id="rId8"/>
    <p:sldId id="550" r:id="rId9"/>
    <p:sldId id="551" r:id="rId10"/>
    <p:sldId id="531" r:id="rId11"/>
  </p:sldIdLst>
  <p:sldSz cx="12192000" cy="6858000"/>
  <p:notesSz cx="6858000" cy="9144000"/>
  <p:defaultTextStyle>
    <a:defPPr>
      <a:defRPr lang="es-C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95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orient="horz" pos="187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8AA00"/>
    <a:srgbClr val="4D4D4C"/>
    <a:srgbClr val="343433"/>
    <a:srgbClr val="FF6C00"/>
    <a:srgbClr val="766363"/>
    <a:srgbClr val="FFF5EA"/>
    <a:srgbClr val="00324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Sin estilo ni cuadrícula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Estilo temático 1 - Énfasis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284E427A-3D55-4303-BF80-6455036E1DE7}" styleName="Estilo temático 1 - Énfasis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Estilo temático 1 - Énfasis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Estilo temático 1 - Énfasis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114" autoAdjust="0"/>
    <p:restoredTop sz="97242"/>
  </p:normalViewPr>
  <p:slideViewPr>
    <p:cSldViewPr snapToGrid="0">
      <p:cViewPr varScale="1">
        <p:scale>
          <a:sx n="82" d="100"/>
          <a:sy n="82" d="100"/>
        </p:scale>
        <p:origin x="806" y="72"/>
      </p:cViewPr>
      <p:guideLst>
        <p:guide orient="horz" pos="595"/>
        <p:guide pos="3840"/>
        <p:guide orient="horz" pos="1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notesViewPr>
    <p:cSldViewPr snapToGrid="0">
      <p:cViewPr varScale="1">
        <p:scale>
          <a:sx n="97" d="100"/>
          <a:sy n="97" d="100"/>
        </p:scale>
        <p:origin x="5336" y="20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>
            <a:extLst>
              <a:ext uri="{FF2B5EF4-FFF2-40B4-BE49-F238E27FC236}">
                <a16:creationId xmlns:a16="http://schemas.microsoft.com/office/drawing/2014/main" id="{9999AFE6-721E-1D92-FFC0-72E02DBB97B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BA598C0A-ECF9-B897-80D5-1AE7ABA3058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369B9F-131C-2846-AB8F-CEE154B4CAEB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788F308B-0102-A0B4-9A23-E807C735E852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1E7CACDD-5D14-572A-2591-609B03F1682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93070F-3F68-E043-9CC3-B53B4F22454C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47004591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660CB96-A603-FF42-AE46-F5F75F80A67B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O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O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906C58E-460D-4A4B-B0C2-1191B9D14FCB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302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95260C-E8AD-B240-9481-5B2FE14A60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A8F4960B-AC04-294C-9B8A-B10830EF5F0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89F720DD-BA8F-C443-A59E-F0EEAF843A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9A1676A-B50F-4048-B9A0-67475225D0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0B408DD-191C-9940-B5DC-9B04378C8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379450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817F6C-CDBB-234C-B00B-255C60E54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29743F10-0075-0F47-A0C2-0071CB2B38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3AB4C6E2-1F45-C54F-A384-6BA60BB5E5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EF44B0E8-9C87-6C41-96F5-6419B5000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2DD08979-815A-D443-B424-FB031F975D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6422036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B4B3E04-413C-394A-94BD-6FD1D56E17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D2E8DEAC-948A-0F4A-9098-1EA5A30BE3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F0E9B39-9659-7747-851C-17A0C73C8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990AE33-28EE-274E-8E15-02A1474831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4EA1D99B-0619-1847-8509-03589920E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1303769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0119BB-39AA-4B48-BB60-3EE344FF24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58E8365F-8201-9D4B-85A4-E53E8819A86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C674364B-4945-0A4D-A279-35519E3F46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868BFB1-0C38-A141-AB7B-22CD10FF3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FF6516E-C104-3E4A-BC0F-DC137BD98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2C08597-16B2-3B42-B59A-8815DD7473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425473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44272C-3F8B-AF4A-82BE-E5BE9107D7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44B8DA00-E62A-A54E-BC50-AEBAAF2516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36E9F7D8-1A62-544F-A4E2-23A591854BA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21895FC1-5F27-B640-81B9-33366BECB5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400D0329-F1AE-FE44-A7B4-B16B429A0C9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A80CE19-B065-6E4F-A207-999BBF94C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299C46BF-4920-E443-B109-668969C5EB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9C417FDA-D0D0-AD4C-9F49-6FFEC4BC6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16954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C92FB5-1F0C-DE4B-8A05-DE0792814E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5AF7F14C-AA7D-3049-A400-4AC6EED53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E746EF7E-3912-BF43-BEB6-49819D4EEF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9BD767C9-209C-E54C-90E7-5176E4464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8228511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77E92712-14E7-954C-8C23-33CD3DBD71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FD7BCE5F-F417-1247-9F26-F4B7134685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0B4FC7D-A6BA-0840-87AD-C71B1896B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416207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F2BE35-F0B5-DA4A-BE9E-AACFF26FF1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8E62C38B-5384-914E-829A-352266F70B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79E434B-6E01-8148-AB00-051DDD4020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6E3E8B8D-7A8A-794B-83A8-6920142BB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582F34C9-1A26-0B41-8AE3-21E599CC56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782100B2-B969-0340-BEE2-F5FE05353D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697146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ADFDE3-8BDA-6F45-A442-3C2913AE5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C08B3433-597C-7E43-A088-A50E4434313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CO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A20DB791-C948-D149-A74A-0C0DFCA0B4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145138C-C370-6E42-902A-0DD2F4F614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9A61561C-CA9F-0943-8A3E-60233368C6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67B72CA4-FB9F-FB4B-8159-119C3846C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695029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8C07BF5-7EFA-9943-8CEE-7006AC89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EFF53FB-B16B-7444-99CF-B7533C11E2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C9133D3-834D-0942-99DE-29F15E8DC4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A5A02E1-CB07-7943-ACA2-6FF8387D3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12BC7A9-2B5F-1841-91C8-9460E3E55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7114781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5C11DF48-6A7C-3349-8650-2AA87E5D5E6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95D61C96-3D9F-F745-A812-5EC81CEB48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B3F61D3C-242D-F544-9883-3EEF515CE8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CCAB2518-6961-A143-A5EE-C5606EBA4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86FEAD3-1533-7A45-8011-C0C84A1DC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3816216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personalizado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0CE09D5-8681-04F4-0AD1-7206C3FF51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8EB62C8D-42BE-8DF8-DDA7-6DDCB2389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986248-06F7-A441-A47A-264EBD310E11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19F9D5C3-AD35-C818-D069-AB2D8EBBEE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E106A169-E84D-2DE1-E7CC-7058F9C00A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1456598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C6EFFBE1-33C9-1D48-A916-7535B68E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CO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F778E02A-26CF-6C46-A280-67C4AA0551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O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6CE7CDF9-2DDE-C04D-A9B9-78F138A1C3D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986248-06F7-A441-A47A-264EBD310E11}" type="datetimeFigureOut">
              <a:rPr lang="es-CO" smtClean="0"/>
              <a:t>13/04/2026</a:t>
            </a:fld>
            <a:endParaRPr lang="es-CO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67570B4-267C-034E-B58B-04C03C9E55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5041693D-7DB1-1144-97E3-85753EC9A0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E15DF6-230E-2E43-B847-68755106EC6D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62609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75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15D167A-EE62-EA02-E6F4-53710691F485}"/>
              </a:ext>
            </a:extLst>
          </p:cNvPr>
          <p:cNvSpPr txBox="1"/>
          <p:nvPr/>
        </p:nvSpPr>
        <p:spPr>
          <a:xfrm>
            <a:off x="871308" y="1077086"/>
            <a:ext cx="513232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ES" sz="5400" b="1" dirty="0">
                <a:latin typeface="Work Sans Bold Roman" pitchFamily="2" charset="77"/>
              </a:rPr>
              <a:t>RESTAURANTE</a:t>
            </a:r>
            <a:endParaRPr kumimoji="0" lang="es-ES" sz="4000" b="1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Work Sans Bold Roman" pitchFamily="2" charset="77"/>
              <a:ea typeface="+mn-ea"/>
              <a:cs typeface="+mn-cs"/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A3A75149-E6A6-4AD2-87ED-54EB51757D9C}"/>
              </a:ext>
            </a:extLst>
          </p:cNvPr>
          <p:cNvSpPr txBox="1"/>
          <p:nvPr/>
        </p:nvSpPr>
        <p:spPr>
          <a:xfrm>
            <a:off x="871307" y="1919598"/>
            <a:ext cx="694265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s-CO" sz="5400" b="1" dirty="0">
                <a:latin typeface="Work Sans Bold Roman"/>
              </a:rPr>
              <a:t>CORRALEJO FAST FOOD</a:t>
            </a:r>
            <a:endParaRPr kumimoji="0" lang="es-ES" sz="5400" b="1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Work Sans Bold Roman"/>
            </a:endParaRP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F218FDD2-E383-2A7D-13E2-9BF540D697FC}"/>
              </a:ext>
            </a:extLst>
          </p:cNvPr>
          <p:cNvSpPr txBox="1"/>
          <p:nvPr/>
        </p:nvSpPr>
        <p:spPr>
          <a:xfrm>
            <a:off x="871307" y="3116414"/>
            <a:ext cx="3977783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s-ES" sz="2000" dirty="0">
                <a:latin typeface="Work Sans Bold Roman" pitchFamily="2" charset="77"/>
              </a:rPr>
              <a:t>Integrantes grupo 3:</a:t>
            </a:r>
          </a:p>
          <a:p>
            <a:pPr marR="0" lvl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s-ES" sz="2000" dirty="0">
              <a:latin typeface="Work Sans Bold Roman" pitchFamily="2" charset="77"/>
            </a:endParaRP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s-ES" sz="2000" dirty="0">
                <a:latin typeface="Work Sans Bold Roman" pitchFamily="2" charset="77"/>
              </a:rPr>
              <a:t>Diego Rincón Reyes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kumimoji="0" lang="es-ES" sz="200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Work Sans Bold Roman" pitchFamily="2" charset="77"/>
                <a:ea typeface="+mn-ea"/>
                <a:cs typeface="+mn-cs"/>
              </a:rPr>
              <a:t>Julián </a:t>
            </a:r>
            <a:r>
              <a:rPr lang="es-ES" sz="2000" dirty="0">
                <a:latin typeface="Work Sans Bold Roman" pitchFamily="2" charset="77"/>
              </a:rPr>
              <a:t>Delgado López</a:t>
            </a:r>
          </a:p>
          <a:p>
            <a:pPr marL="342900" marR="0" lvl="0" indent="-3429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Ø"/>
              <a:tabLst/>
              <a:defRPr/>
            </a:pPr>
            <a:r>
              <a:rPr lang="es-ES" sz="2000" dirty="0">
                <a:latin typeface="Work Sans Bold Roman" pitchFamily="2" charset="77"/>
              </a:rPr>
              <a:t>Alberto Camargo Morales</a:t>
            </a:r>
          </a:p>
          <a:p>
            <a:pPr marL="342900" lvl="0" indent="-342900">
              <a:buFont typeface="Wingdings" panose="05000000000000000000" pitchFamily="2" charset="2"/>
              <a:buChar char="Ø"/>
              <a:defRPr/>
            </a:pPr>
            <a:r>
              <a:rPr lang="es-ES" sz="2000" dirty="0">
                <a:latin typeface="Work Sans Bold Roman" pitchFamily="2" charset="77"/>
              </a:rPr>
              <a:t>Mateo Chaves Mejía</a:t>
            </a:r>
          </a:p>
          <a:p>
            <a:pPr marL="342900" lvl="0" indent="-342900">
              <a:buFont typeface="Wingdings" panose="05000000000000000000" pitchFamily="2" charset="2"/>
              <a:buChar char="Ø"/>
              <a:defRPr/>
            </a:pPr>
            <a:r>
              <a:rPr lang="es-ES" sz="2000" dirty="0">
                <a:latin typeface="Work Sans Bold Roman" pitchFamily="2" charset="77"/>
              </a:rPr>
              <a:t>Sebastián Amaya Manrique </a:t>
            </a:r>
          </a:p>
        </p:txBody>
      </p:sp>
      <p:pic>
        <p:nvPicPr>
          <p:cNvPr id="10" name="Imagen 9">
            <a:extLst>
              <a:ext uri="{FF2B5EF4-FFF2-40B4-BE49-F238E27FC236}">
                <a16:creationId xmlns:a16="http://schemas.microsoft.com/office/drawing/2014/main" id="{FDE5A692-A146-1D18-D9BA-7D0E8EC54E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64245" y="4544291"/>
            <a:ext cx="1456447" cy="14564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972602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FEF253-53C4-B5FA-07C7-0B039B14F52F}"/>
              </a:ext>
            </a:extLst>
          </p:cNvPr>
          <p:cNvSpPr txBox="1"/>
          <p:nvPr/>
        </p:nvSpPr>
        <p:spPr>
          <a:xfrm>
            <a:off x="664128" y="981414"/>
            <a:ext cx="1086374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800" b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WORK SANS BOLD ROMAN" pitchFamily="2" charset="77"/>
              </a:rPr>
              <a:t>Planteamiento del Problema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AE0C963B-97B4-4F66-1B49-0B47BC7F0F1A}"/>
              </a:ext>
            </a:extLst>
          </p:cNvPr>
          <p:cNvCxnSpPr>
            <a:cxnSpLocks/>
          </p:cNvCxnSpPr>
          <p:nvPr/>
        </p:nvCxnSpPr>
        <p:spPr>
          <a:xfrm>
            <a:off x="4972228" y="1812411"/>
            <a:ext cx="2247544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AF3A3FAE-C260-CCE4-3727-DCFBA7446856}"/>
              </a:ext>
            </a:extLst>
          </p:cNvPr>
          <p:cNvSpPr txBox="1"/>
          <p:nvPr/>
        </p:nvSpPr>
        <p:spPr>
          <a:xfrm>
            <a:off x="1044616" y="2551837"/>
            <a:ext cx="4754300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Qué</a:t>
            </a:r>
            <a:br>
              <a:rPr lang="es-ES" sz="2200" dirty="0"/>
            </a:br>
            <a:r>
              <a:rPr lang="es-ES" sz="2400" dirty="0"/>
              <a:t>El restaurante </a:t>
            </a:r>
            <a:r>
              <a:rPr lang="es-ES" sz="2400" b="1" dirty="0"/>
              <a:t>Corralejo </a:t>
            </a:r>
            <a:r>
              <a:rPr lang="es-ES" sz="2400" b="1" dirty="0" err="1"/>
              <a:t>Fast</a:t>
            </a:r>
            <a:r>
              <a:rPr lang="es-ES" sz="2400" b="1" dirty="0"/>
              <a:t> </a:t>
            </a:r>
            <a:r>
              <a:rPr lang="es-ES" sz="2400" b="1" dirty="0" err="1"/>
              <a:t>Food</a:t>
            </a:r>
            <a:r>
              <a:rPr lang="es-ES" sz="2400" dirty="0"/>
              <a:t> presenta dificultades en la organización de los pedidos, el manejo de la información de los platos del menú y el control de los domicilios, los cuales solo se realizan cuando el cliente se encuentra cerca del restaurante, lo que puede generar desorden en los registros y demoras en la atención.</a:t>
            </a:r>
            <a:endParaRPr lang="es-CO" sz="2200" dirty="0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A3575C94-1451-30DE-3D13-04033DB57B97}"/>
              </a:ext>
            </a:extLst>
          </p:cNvPr>
          <p:cNvSpPr txBox="1"/>
          <p:nvPr/>
        </p:nvSpPr>
        <p:spPr>
          <a:xfrm>
            <a:off x="6773571" y="2551837"/>
            <a:ext cx="47543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sz="2200" b="1" dirty="0">
                <a:solidFill>
                  <a:schemeClr val="accent6">
                    <a:lumMod val="75000"/>
                  </a:schemeClr>
                </a:solidFill>
              </a:rPr>
              <a:t>Para qué</a:t>
            </a:r>
            <a:br>
              <a:rPr lang="es-ES" sz="2200" dirty="0"/>
            </a:br>
            <a:r>
              <a:rPr lang="es-ES" sz="2400" dirty="0"/>
              <a:t>Por esta razón, se propone desarrollar un </a:t>
            </a:r>
            <a:r>
              <a:rPr lang="es-ES" sz="2400" b="1" dirty="0"/>
              <a:t>sistema de información</a:t>
            </a:r>
            <a:r>
              <a:rPr lang="es-ES" sz="2400" dirty="0"/>
              <a:t> que permita organizar el inventario de pedidos, la información de los platos y la gestión de domicilios cercanos, con el fin de mejorar la atención al cliente y optimizar los procesos </a:t>
            </a:r>
            <a:r>
              <a:rPr lang="es-ES" sz="2400"/>
              <a:t>del restaurante.</a:t>
            </a:r>
            <a:endParaRPr lang="es-CO" sz="2200" dirty="0"/>
          </a:p>
        </p:txBody>
      </p:sp>
    </p:spTree>
    <p:extLst>
      <p:ext uri="{BB962C8B-B14F-4D97-AF65-F5344CB8AC3E}">
        <p14:creationId xmlns:p14="http://schemas.microsoft.com/office/powerpoint/2010/main" val="19711428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B951D1C-ACAB-30A9-933A-FC96DF28A2F0}"/>
              </a:ext>
            </a:extLst>
          </p:cNvPr>
          <p:cNvSpPr txBox="1">
            <a:spLocks/>
          </p:cNvSpPr>
          <p:nvPr/>
        </p:nvSpPr>
        <p:spPr>
          <a:xfrm>
            <a:off x="293246" y="1856809"/>
            <a:ext cx="7154725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/>
              <a:t>🎯</a:t>
            </a:r>
            <a:r>
              <a:rPr lang="es-CO" b="1" dirty="0">
                <a:solidFill>
                  <a:srgbClr val="38AA00"/>
                </a:solidFill>
                <a:latin typeface="WORK SANS BOLD ROMAN" pitchFamily="2" charset="77"/>
              </a:rPr>
              <a:t>Objetivo General</a:t>
            </a:r>
          </a:p>
        </p:txBody>
      </p:sp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669DD18A-AB54-34AC-A662-0BDC60B050FF}"/>
              </a:ext>
            </a:extLst>
          </p:cNvPr>
          <p:cNvCxnSpPr>
            <a:cxnSpLocks/>
          </p:cNvCxnSpPr>
          <p:nvPr/>
        </p:nvCxnSpPr>
        <p:spPr>
          <a:xfrm>
            <a:off x="2557278" y="2533407"/>
            <a:ext cx="1425934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D8BBAEB4-207C-E400-BE63-CCA63A18C095}"/>
              </a:ext>
            </a:extLst>
          </p:cNvPr>
          <p:cNvSpPr txBox="1"/>
          <p:nvPr/>
        </p:nvSpPr>
        <p:spPr>
          <a:xfrm>
            <a:off x="1074875" y="3036612"/>
            <a:ext cx="612025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s-ES" b="1" dirty="0"/>
              <a:t>Desarrollar</a:t>
            </a:r>
            <a:r>
              <a:rPr lang="es-ES" dirty="0"/>
              <a:t> un sistema de información que permita la gestión de los platos del menú del restaurante Corralejo </a:t>
            </a:r>
            <a:r>
              <a:rPr lang="es-ES" dirty="0" err="1"/>
              <a:t>Fast</a:t>
            </a:r>
            <a:r>
              <a:rPr lang="es-ES" dirty="0"/>
              <a:t> </a:t>
            </a:r>
            <a:r>
              <a:rPr lang="es-ES" dirty="0" err="1"/>
              <a:t>Food</a:t>
            </a:r>
            <a:r>
              <a:rPr lang="es-ES" dirty="0"/>
              <a:t> y, simultáneamente, implementar un módulo de ventas en línea dirigido a los clientes, con el fin de organizar la información, registrar pedidos y generar tickets de manera eficiente, mejorando así la atención al cliente y la operatividad del negocio.</a:t>
            </a:r>
            <a:endParaRPr lang="es-ES" dirty="0">
              <a:effectLst/>
            </a:endParaRPr>
          </a:p>
        </p:txBody>
      </p:sp>
      <p:pic>
        <p:nvPicPr>
          <p:cNvPr id="1026" name="Picture 2" descr="Vectores de Objetivo general png - Descarga vectores gratis de gran calidad  de Freepik | Freepik">
            <a:extLst>
              <a:ext uri="{FF2B5EF4-FFF2-40B4-BE49-F238E27FC236}">
                <a16:creationId xmlns:a16="http://schemas.microsoft.com/office/drawing/2014/main" id="{A4808F8B-86A7-1DCA-4FC0-B7F3747758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00816" y="1648691"/>
            <a:ext cx="3874655" cy="38746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380001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" name="Conector recto 11">
            <a:extLst>
              <a:ext uri="{FF2B5EF4-FFF2-40B4-BE49-F238E27FC236}">
                <a16:creationId xmlns:a16="http://schemas.microsoft.com/office/drawing/2014/main" id="{B6F3F9CE-1C13-4422-B3AE-2A75436E07C0}"/>
              </a:ext>
            </a:extLst>
          </p:cNvPr>
          <p:cNvCxnSpPr>
            <a:cxnSpLocks/>
          </p:cNvCxnSpPr>
          <p:nvPr/>
        </p:nvCxnSpPr>
        <p:spPr>
          <a:xfrm>
            <a:off x="3346486" y="1228433"/>
            <a:ext cx="1425934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pic>
        <p:nvPicPr>
          <p:cNvPr id="3" name="Imagen 2">
            <a:extLst>
              <a:ext uri="{FF2B5EF4-FFF2-40B4-BE49-F238E27FC236}">
                <a16:creationId xmlns:a16="http://schemas.microsoft.com/office/drawing/2014/main" id="{6B7E7A38-3DDE-D6B7-913C-6FFEC9E274D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69066" y="615821"/>
            <a:ext cx="7865400" cy="6146144"/>
          </a:xfrm>
          <a:prstGeom prst="rect">
            <a:avLst/>
          </a:prstGeom>
        </p:spPr>
      </p:pic>
      <p:sp>
        <p:nvSpPr>
          <p:cNvPr id="4" name="Título 1">
            <a:extLst>
              <a:ext uri="{FF2B5EF4-FFF2-40B4-BE49-F238E27FC236}">
                <a16:creationId xmlns:a16="http://schemas.microsoft.com/office/drawing/2014/main" id="{9D1D8CA4-90B5-5B6E-71A3-33A25C63FDA2}"/>
              </a:ext>
            </a:extLst>
          </p:cNvPr>
          <p:cNvSpPr txBox="1">
            <a:spLocks/>
          </p:cNvSpPr>
          <p:nvPr/>
        </p:nvSpPr>
        <p:spPr>
          <a:xfrm>
            <a:off x="3368225" y="440616"/>
            <a:ext cx="6235552" cy="6765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s-CO" dirty="0"/>
              <a:t>🎯</a:t>
            </a:r>
            <a:r>
              <a:rPr lang="es-CO" b="1" dirty="0">
                <a:solidFill>
                  <a:srgbClr val="38AA00"/>
                </a:solidFill>
                <a:latin typeface="WORK SANS BOLD ROMAN" pitchFamily="2" charset="77"/>
              </a:rPr>
              <a:t>Objetivos Específicos</a:t>
            </a:r>
          </a:p>
        </p:txBody>
      </p:sp>
    </p:spTree>
    <p:extLst>
      <p:ext uri="{BB962C8B-B14F-4D97-AF65-F5344CB8AC3E}">
        <p14:creationId xmlns:p14="http://schemas.microsoft.com/office/powerpoint/2010/main" val="36713968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0B22CE28-2A8B-249F-95BC-6984470677FE}"/>
              </a:ext>
            </a:extLst>
          </p:cNvPr>
          <p:cNvSpPr txBox="1"/>
          <p:nvPr/>
        </p:nvSpPr>
        <p:spPr>
          <a:xfrm>
            <a:off x="3341086" y="665145"/>
            <a:ext cx="550984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800" b="1" u="none" strike="noStrike" kern="1200" cap="none" spc="0" normalizeH="0" baseline="0" noProof="0" dirty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WORK SANS BOLD ROMAN" pitchFamily="2" charset="77"/>
              </a:rPr>
              <a:t>Módulos del Sistema</a:t>
            </a:r>
          </a:p>
        </p:txBody>
      </p:sp>
      <p:cxnSp>
        <p:nvCxnSpPr>
          <p:cNvPr id="3" name="Conector recto 2">
            <a:extLst>
              <a:ext uri="{FF2B5EF4-FFF2-40B4-BE49-F238E27FC236}">
                <a16:creationId xmlns:a16="http://schemas.microsoft.com/office/drawing/2014/main" id="{80A0A83F-5A5B-DFA7-2757-C8A81FE7A120}"/>
              </a:ext>
            </a:extLst>
          </p:cNvPr>
          <p:cNvCxnSpPr>
            <a:cxnSpLocks/>
          </p:cNvCxnSpPr>
          <p:nvPr/>
        </p:nvCxnSpPr>
        <p:spPr>
          <a:xfrm>
            <a:off x="4972228" y="1485507"/>
            <a:ext cx="2247544" cy="0"/>
          </a:xfrm>
          <a:prstGeom prst="line">
            <a:avLst/>
          </a:prstGeom>
          <a:ln/>
        </p:spPr>
        <p:style>
          <a:lnRef idx="3">
            <a:schemeClr val="accent6"/>
          </a:lnRef>
          <a:fillRef idx="0">
            <a:schemeClr val="accent6"/>
          </a:fillRef>
          <a:effectRef idx="2">
            <a:schemeClr val="accent6"/>
          </a:effectRef>
          <a:fontRef idx="minor">
            <a:schemeClr val="tx1"/>
          </a:fontRef>
        </p:style>
      </p:cxnSp>
      <p:sp>
        <p:nvSpPr>
          <p:cNvPr id="5" name="CuadroTexto 4">
            <a:extLst>
              <a:ext uri="{FF2B5EF4-FFF2-40B4-BE49-F238E27FC236}">
                <a16:creationId xmlns:a16="http://schemas.microsoft.com/office/drawing/2014/main" id="{214F8CE5-D6AA-4C29-80AC-F3263D631718}"/>
              </a:ext>
            </a:extLst>
          </p:cNvPr>
          <p:cNvSpPr txBox="1"/>
          <p:nvPr/>
        </p:nvSpPr>
        <p:spPr>
          <a:xfrm>
            <a:off x="713509" y="1578152"/>
            <a:ext cx="10764981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CO" b="1" dirty="0"/>
              <a:t>Gestión de Pedidos</a:t>
            </a:r>
            <a:r>
              <a:rPr lang="es-ES" b="1" dirty="0"/>
              <a:t>: </a:t>
            </a:r>
            <a:r>
              <a:rPr lang="es-ES" dirty="0"/>
              <a:t>Permite registrar, organizar y hacer seguimiento a los pedidos realizados por los clientes en el restaurante o a domicilio</a:t>
            </a:r>
            <a:br>
              <a:rPr lang="es-ES" dirty="0"/>
            </a:br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b="1" dirty="0"/>
              <a:t>Administración de Platos del Menú: </a:t>
            </a:r>
            <a:r>
              <a:rPr lang="es-ES" dirty="0"/>
              <a:t>Permite registrar, editar y eliminar los platos disponibles en el restaurante, incluyendo su descripción, precio e imagen</a:t>
            </a:r>
            <a:br>
              <a:rPr lang="es-ES" dirty="0"/>
            </a:br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b="1" dirty="0"/>
              <a:t>Generación de comprobante de pedido: </a:t>
            </a:r>
            <a:r>
              <a:rPr lang="es-ES" dirty="0"/>
              <a:t>Permite generar un ticket o comprobante con la información del pedido realizado por el cliente</a:t>
            </a:r>
            <a:br>
              <a:rPr lang="es-ES" dirty="0"/>
            </a:br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b="1" dirty="0"/>
              <a:t>Reportes: </a:t>
            </a:r>
            <a:r>
              <a:rPr lang="es-ES" dirty="0"/>
              <a:t>Permite consultar información relacionada con los pedidos registrados y los platos más solicitados</a:t>
            </a:r>
            <a:br>
              <a:rPr lang="es-ES" dirty="0"/>
            </a:br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b="1" dirty="0"/>
              <a:t>Gestión de Usuarios y Roles: </a:t>
            </a:r>
            <a:r>
              <a:rPr lang="es-ES" dirty="0"/>
              <a:t>Permite administrar el acceso al sistema según el rol de cada empleado</a:t>
            </a:r>
          </a:p>
          <a:p>
            <a:endParaRPr lang="es-ES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es-ES" b="1" dirty="0"/>
              <a:t>Ventas Online / Pedidos a través de la Web</a:t>
            </a:r>
            <a:r>
              <a:rPr lang="es-ES" dirty="0"/>
              <a:t>: Permite a los clientes visualizar el menú digital, seleccionar platos, armar su pedido, ingresar datos de entrega (dirección, teléfono), elegir método de pago y realizar el seguimiento del estado del pedido en tiempo real</a:t>
            </a:r>
          </a:p>
        </p:txBody>
      </p:sp>
    </p:spTree>
    <p:extLst>
      <p:ext uri="{BB962C8B-B14F-4D97-AF65-F5344CB8AC3E}">
        <p14:creationId xmlns:p14="http://schemas.microsoft.com/office/powerpoint/2010/main" val="33999213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0A00ED6-6536-EF5C-0958-65E8CB4D08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uadroTexto 4">
            <a:extLst>
              <a:ext uri="{FF2B5EF4-FFF2-40B4-BE49-F238E27FC236}">
                <a16:creationId xmlns:a16="http://schemas.microsoft.com/office/drawing/2014/main" id="{086E23DA-D24F-53B3-E330-6B0F0758D0EE}"/>
              </a:ext>
            </a:extLst>
          </p:cNvPr>
          <p:cNvSpPr txBox="1"/>
          <p:nvPr/>
        </p:nvSpPr>
        <p:spPr>
          <a:xfrm>
            <a:off x="4845152" y="142633"/>
            <a:ext cx="250171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48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BOLD ROMAN" pitchFamily="2" charset="77"/>
              </a:rPr>
              <a:t>Mockups</a:t>
            </a:r>
          </a:p>
        </p:txBody>
      </p:sp>
      <p:pic>
        <p:nvPicPr>
          <p:cNvPr id="7" name="Imagen 6">
            <a:extLst>
              <a:ext uri="{FF2B5EF4-FFF2-40B4-BE49-F238E27FC236}">
                <a16:creationId xmlns:a16="http://schemas.microsoft.com/office/drawing/2014/main" id="{4F740A3E-2140-CBE5-B122-C8E561DA52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050" y="1371601"/>
            <a:ext cx="5852537" cy="383650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BE71425-B51E-12DC-707A-AF4AD0FBDD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06545" y="1364940"/>
            <a:ext cx="5852537" cy="3850541"/>
          </a:xfrm>
          <a:prstGeom prst="rect">
            <a:avLst/>
          </a:prstGeom>
        </p:spPr>
      </p:pic>
      <p:sp>
        <p:nvSpPr>
          <p:cNvPr id="10" name="CuadroTexto 9">
            <a:extLst>
              <a:ext uri="{FF2B5EF4-FFF2-40B4-BE49-F238E27FC236}">
                <a16:creationId xmlns:a16="http://schemas.microsoft.com/office/drawing/2014/main" id="{894C18D7-B326-5BB5-FA1C-96FF26D1622B}"/>
              </a:ext>
            </a:extLst>
          </p:cNvPr>
          <p:cNvSpPr txBox="1"/>
          <p:nvPr/>
        </p:nvSpPr>
        <p:spPr>
          <a:xfrm>
            <a:off x="2752277" y="5486399"/>
            <a:ext cx="6408614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kumimoji="0" lang="es-CO" sz="2500" b="1" u="none" strike="noStrike" kern="120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BOLD ROMAN" pitchFamily="2" charset="77"/>
              </a:rPr>
              <a:t>Línk</a:t>
            </a:r>
            <a:r>
              <a:rPr lang="es-CO" sz="2500" b="1" dirty="0">
                <a:solidFill>
                  <a:schemeClr val="bg1"/>
                </a:solidFill>
                <a:latin typeface="WORK SANS BOLD ROMAN" pitchFamily="2" charset="77"/>
              </a:rPr>
              <a:t>: https://balsamiq.cloud/sxhyf3y/poun6ab</a:t>
            </a:r>
            <a:endParaRPr kumimoji="0" lang="es-CO" sz="25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0626809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C665A3E-7B34-4C21-98B0-697926E311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FAAD50CA-CC0B-9076-5C5C-780BC8F6C650}"/>
              </a:ext>
            </a:extLst>
          </p:cNvPr>
          <p:cNvSpPr txBox="1"/>
          <p:nvPr/>
        </p:nvSpPr>
        <p:spPr>
          <a:xfrm>
            <a:off x="3414836" y="-166879"/>
            <a:ext cx="5101076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s-CO" sz="7200" b="1" dirty="0">
                <a:solidFill>
                  <a:schemeClr val="bg1"/>
                </a:solidFill>
                <a:latin typeface="WORK SANS BOLD ROMAN" pitchFamily="2" charset="77"/>
              </a:rPr>
              <a:t>Casos de uso</a:t>
            </a:r>
            <a:endParaRPr kumimoji="0" lang="es-CO" sz="7200" b="1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WORK SANS BOLD ROMAN" pitchFamily="2" charset="77"/>
            </a:endParaRP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FAA27485-5622-37FC-4844-3E5C2C6CB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76532" y="830850"/>
            <a:ext cx="6566864" cy="59151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13252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CD8B568-E4CB-3A42-47F5-68E324C9F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9140B12D-CCBA-51BC-CC4B-EFD2A035BFBD}"/>
              </a:ext>
            </a:extLst>
          </p:cNvPr>
          <p:cNvSpPr txBox="1"/>
          <p:nvPr/>
        </p:nvSpPr>
        <p:spPr>
          <a:xfrm>
            <a:off x="1696438" y="103706"/>
            <a:ext cx="879914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72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BOLD ROMAN" pitchFamily="2" charset="77"/>
              </a:rPr>
              <a:t>Caso de uso extendido</a:t>
            </a:r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F7993EA4-63CA-741D-4D7D-81DD19AAD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0101" y="1304034"/>
            <a:ext cx="3998333" cy="5218063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103A355-C16A-017B-53FF-444BC1D29B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56398" y="1304034"/>
            <a:ext cx="3746767" cy="52180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6367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2CE593C-6645-65CD-3D13-32A59DF0BC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adroTexto 1">
            <a:extLst>
              <a:ext uri="{FF2B5EF4-FFF2-40B4-BE49-F238E27FC236}">
                <a16:creationId xmlns:a16="http://schemas.microsoft.com/office/drawing/2014/main" id="{6ECBE1E9-3E8C-0770-DCD5-7433FD33DC03}"/>
              </a:ext>
            </a:extLst>
          </p:cNvPr>
          <p:cNvSpPr txBox="1"/>
          <p:nvPr/>
        </p:nvSpPr>
        <p:spPr>
          <a:xfrm>
            <a:off x="2336873" y="-26928"/>
            <a:ext cx="7518277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CO" sz="7200" b="1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WORK SANS BOLD ROMAN" pitchFamily="2" charset="77"/>
              </a:rPr>
              <a:t>Repositorio GitHub</a:t>
            </a: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44A6C433-E025-F005-D77E-EDAD593EF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3063" y="953549"/>
            <a:ext cx="7518277" cy="57827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833058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0462668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2176176</TotalTime>
  <Words>389</Words>
  <Application>Microsoft Office PowerPoint</Application>
  <PresentationFormat>Panorámica</PresentationFormat>
  <Paragraphs>29</Paragraphs>
  <Slides>10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10</vt:i4>
      </vt:variant>
    </vt:vector>
  </HeadingPairs>
  <TitlesOfParts>
    <vt:vector size="17" baseType="lpstr">
      <vt:lpstr>Arial</vt:lpstr>
      <vt:lpstr>Calibri</vt:lpstr>
      <vt:lpstr>Calibri Light</vt:lpstr>
      <vt:lpstr>Wingdings</vt:lpstr>
      <vt:lpstr>Work Sans Bold Roman</vt:lpstr>
      <vt:lpstr>Work Sans Bold Roman</vt:lpstr>
      <vt:lpstr>Tema de Office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Jorge Enrique Pedraza Sanchez</dc:creator>
  <cp:lastModifiedBy>ALBERTO  CAMARGO MORALES</cp:lastModifiedBy>
  <cp:revision>92</cp:revision>
  <dcterms:created xsi:type="dcterms:W3CDTF">2020-10-01T23:51:28Z</dcterms:created>
  <dcterms:modified xsi:type="dcterms:W3CDTF">2026-04-13T14:24:42Z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1299739c-ad3d-4908-806e-4d91151a6e13_Enabled">
    <vt:lpwstr>true</vt:lpwstr>
  </property>
  <property fmtid="{D5CDD505-2E9C-101B-9397-08002B2CF9AE}" pid="3" name="MSIP_Label_1299739c-ad3d-4908-806e-4d91151a6e13_Method">
    <vt:lpwstr>Standard</vt:lpwstr>
  </property>
  <property fmtid="{D5CDD505-2E9C-101B-9397-08002B2CF9AE}" pid="4" name="MSIP_Label_1299739c-ad3d-4908-806e-4d91151a6e13_Name">
    <vt:lpwstr>All Employees (Unrestricted)</vt:lpwstr>
  </property>
  <property fmtid="{D5CDD505-2E9C-101B-9397-08002B2CF9AE}" pid="5" name="MSIP_Label_1299739c-ad3d-4908-806e-4d91151a6e13_SiteId">
    <vt:lpwstr>cbc2c381-2f2e-4d93-91d1-506c9316ace7</vt:lpwstr>
  </property>
  <property fmtid="{D5CDD505-2E9C-101B-9397-08002B2CF9AE}" pid="6" name="MSIP_Label_1299739c-ad3d-4908-806e-4d91151a6e13_ContentBits">
    <vt:lpwstr>0</vt:lpwstr>
  </property>
  <property fmtid="{D5CDD505-2E9C-101B-9397-08002B2CF9AE}" pid="7" name="MSIP_Label_1299739c-ad3d-4908-806e-4d91151a6e13_SetDate">
    <vt:lpwstr>2022-08-12T19:17:55Z</vt:lpwstr>
  </property>
  <property fmtid="{D5CDD505-2E9C-101B-9397-08002B2CF9AE}" pid="8" name="MSIP_Label_1299739c-ad3d-4908-806e-4d91151a6e13_ActionId">
    <vt:lpwstr>8c6bc714-34a9-4b82-914e-50b1377a2da4</vt:lpwstr>
  </property>
</Properties>
</file>